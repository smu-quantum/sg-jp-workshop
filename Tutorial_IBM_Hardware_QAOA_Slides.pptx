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1695"/>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6400" cy="4968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49688" y="0"/>
            <a:ext cx="2946400" cy="4968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450" y="4776788"/>
            <a:ext cx="5438775" cy="39084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9750"/>
            <a:ext cx="2946400" cy="4968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49688" y="9429750"/>
            <a:ext cx="2946400" cy="49688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the hands-on part. In the next half hour we'll take a small optimisation problem — a knapsack — all the way from a plain problem statement to a circuit running on a real IBM Quantum processor. We'll use two notebooks: knapsack_qaoa.ipynb builds and solves the problem with QAOA on a simulator, and ibm_hardware_qaoa.ipynb takes the same circuit to actual hardware. The slides are just the map — the real action is in the notebooks, which we'll run together. If you have the repo open and your IBM account ready, you're set. Please open part01/knapsack_qaoa.ipynb now.</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the shape of the session. Four moves. First we MODEL: take the knapsack and turn it into the form a quantum computer wants — a QUBO, then an Ising Hamiltonian. Second we SOLVE: build a QAOA circuit and tune its parameters on a fast local simulator. Third we ACCESS: connect to IBM Quantum and choose a real backend. Fourth we RUN: transpile the circuit for that device, submit a live job, and read the results back. By the end you'll be able to do this yourself. Two ground rules to keep in mind throughout: QAOA is a heuristic — when we measure, we get samples from a distribution, not a guaranteed best answer, so we'll always check feasibility and compare to the exact optimum. And every hardware action is opt-in: the notebook never submits anything until you deliberately flip a flag.</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meet the problem. It's deliberately small so everything is inspectable. Six items, each with a weight and a value, and a knapsack that can carry a total weight of at most 14. For each item you make a binary choice — take it or leave it — and you want to maximise total value without breaking the weight limit. Because it's small, we can compute the exact optimum classically with CPLEX: the best you can do is value 50, by taking items 3 and 4, which weigh 6 and 7 for a total of 13. Keep that number, 50, in mind — it's the benchmark we'll hold QAOA against. In the notebook this is the first few cells: define the weights, values, and capacity, and solve it exactly.</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single most important slide to anchor the whole tutorial, because every notebook in this workshop follows exactly this pipeline. Left to right: you start with the PROBLEM; Qiskit turns it into a Quadratic Program — a standard mathematical form; that becomes a QUBO, adding slack variables to handle the weight constraint; the QUBO maps to an Ising Hamiltonian written in Pauli Z and ZZ terms; from that Hamiltonian we build the QAOA circuit with its cost and mixer layers; we run it for many shots to sample bitstrings; and finally we decode those bitstrings into an actual item selection, keeping the best FEASIBLE one. The first four steps are essentially automatic — a few lines of Qiskit. The parts that need our attention are the QAOA circuit and the decoding of noisy samples. And notice: this is the very same pipeline you saw for VQE and for the travelling-salesperson notebooks — only the circuit in the middle changes.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concept worth pausing on, because it surprises people: our problem has 6 items, but the quantum circuit will use about 10 qubits. Why? A quantum optimiser wants an UNCONSTRAINED objective, but our problem has a constraint — total weight at most 14. The QUBO conversion handles this by introducing extra 'slack' variables that turn the inequality into an equality and fold it into the objective as a penalty term. For this instance that's about 4 slack variables, so 6 plus 4 is roughly 10 qubits. The practical lesson: constraints cost you qubits, and more qubits mean deeper, noisier circuits on real hardware — which is exactly why handling constraints efficiently is an active research topic, and why Part 02 shows a custom-penalty trick that avoids slack qubits altogether. In the notebook, watch the printed variable count jump from 6 to 10 right after the QUBO conversion.</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quick, intuitive look at QAOA itself — you've seen this in the earlier notebooks so I'll be brief. You start every qubit in an equal superposition — all possible item selections at once. Then you apply two alternating layers: a COST layer, built from our Ising Hamiltonian, which stamps in information about which selections are good; and a MIXER layer, which lets amplitude flow between selections. You repeat that pair a few times — 'reps', and we use 2 — and then measure to get candidate bitstrings. The magic is in the angles gamma and beta on those layers: a classical optimiser, COBYLA, tunes them to push the measured energy down, and lower energy corresponds to better knapsack solutions. It's exactly the hybrid quantum-classical loop you saw with VQE — classical optimiser outside, quantum circuit inside. More reps make the circuit more expressive but also deeper and noisier, which matters once we're on hardware.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a strategy point that's easy to miss but really matters for using hardware sensibly. Finding good QAOA angles takes many, many circuit evaluations — the optimiser tries angles, measures energy, adjusts, and repeats dozens of times. Doing that on real hardware would be painfully slow and would burn your quota in a queue every iteration. So we do the entire parameter search on a fast local simulator — Aer, running on your laptop. The plot shows what you'll see: the energy drops as the angles improve, then flattens out — that flattening is convergence. Once we have good angles, we freeze them and send just that ONE final circuit to the quantum computer. This 'optimise locally, run the best circuit on hardware' pattern is standard practice and it's what keeps today's live demo short and predictable.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the part you came for — getting onto real hardware. First, credentials. You get a free API token from quantum dot ibm dot com. The golden rule: that token never goes in the notebook or into git. We keep it in a .env file, which the repository's .gitignore explicitly excludes, and load it at runtime with python-dotenv. The notebook prints only whether the token loaded — true or false — never the token itself. With the token and your instance, you create a QiskitRuntimeService — think of it as your remote control for IBM Quantum: it lists backends, submits jobs, and retrieves results. The 'instance' ties your usage to your plan or allocation. In the notebook, the first hardware cell just establishes this connection and confirms the credentials are present. Please make sure your .env is filled in now if you haven't already.</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Real quantum computers are shared, queued resources, so it pays to choose well and check before you leap. For choosing: the simplest approach is service.least_busy with the filters operational, non-simulator, and a minimum qubit count — it returns a real device that fits your circuit and currently has the shortest queue. Or, if your allocation gives you a specific machine, you can name it explicitly through the IBM_BACKEND variable. Before submitting anything, the notebook runs pre-flight checks — the responsible-use step: does your instance still have Runtime seconds; are there reachable QPUs with enough qubits; is your chosen backend actually operational and how many jobs are pending on it; and which device is least busy right now. None of these submit a job — they just make sure that when you do submit, you're not about to wait in a queue only to hit an error. It's a small habit that saves a lot of frustration.</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a step that doesn't exist on a simulator: transpilation. A real device only runs a small set of native gates, and its qubits are wired in a fixed pattern — not every qubit talks to every other. Your nice abstract QAOA circuit has to be rewritten to respect both facts. That's transpilation: it maps your logical qubits onto physical ones and translates your gates into the device's native set. The optimization_level, 0 to 3, controls how hard the transpiler works — higher levels usually produce shallower, better circuits but take longer to compile. The thing to watch, and to point out to your audience, is that the circuit DEPTH grows — often a lot — because the transpiler inserts SWAP gates to move information between qubits that aren't directly connected. And a practical must-know: IBM Runtime V2 requires an ISA circuit — one already expressed in the backend's native gates — so you cannot submit the abstract circuit; you submit the transpiled one. The notebook lets you compare all four optimization levels side by side.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Once we've chosen a backend, we can look at its health, and this is one of my favourite teaching moments. Every physical qubit on a real device has its own error rates — how reliably it can be read out, and how cleanly it performs gates. The notebook pulls the backend's calibration data and plots these across all qubits. The red bars mark the specific physical qubits the transpiler chose for our circuit. The point to make: layout matters — a smart transpiler tries to place your circuit on the better qubits and avoid the noisy ones, and this is a big reason the exact same circuit can give noticeably different results depending on which qubits it lands on. It also motivates why people care about error mitigation and qubit selection. You don't have to memorise numbers here — just internalise that the device is non-uniform, and layout is a lever.</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moment — the only cell in the entire tutorial that actually consumes QPU time. We create a SamplerV2 bound to our chosen hardware backend, run the transpiled circuit for 1024 shots, and — crucially — we grab and save the job id. That job id is your reconnection handle: you can close everything and come back to that exact job later. A few live-demo realities, because queues are unpredictable. Best practice, and what I'll actually do: submit the job EARLY — even a few minutes before this point in the talk — so that by the time we get here the results are already coming back. If the queue is long, we don't sit and watch a spinner: the monitoring cell accepts any job id, so we can reconnect to a job I submitted earlier, and it also has a pre-run fallback job id baked in so the demo never stalls. The status goes QUEUED, then RUNNING, then DONE; note Runtime V2 doesn't expose your exact queue position. And for a circuit this small, 1024 shots is plenty. Only flip SUBMIT_HARDWARE_JOB to True when you're actually ready to spend the time.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Finally, what to expect when the hardware result comes back, and how to talk about it honestly. On the simulator there's no noise, the feasible-shot rate is high, and you'll almost always recover value 50. On real hardware there's readout error, gate error, and decoherence, so the distribution is messier: a lower fraction of the shots are even feasible, and while you often still recover 50, sometimes the best feasible sample is a bit suboptimal. The right way to handle this — and what the notebook does — is NOT to blindly report the single most frequent bitstring, which might be infeasible garbage. Instead we scan the samples, keep the best FEASIBLE one, and we report the feasible-shot rate alongside it. That honesty is the whole point: noise is part of the experiment, so we measure it and state it, rather than cherry-picking a good-looking number. When our live job finishes, we'll compare its feasible rate and best value directly against the simulator.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wrap up: in half an hour we went the whole distance — modelled a knapsack, converted it to a QUBO and an Ising Hamiltonian, built and tuned a QAOA circuit on a simulator, connected to IBM Quantum, ran pre-flight capacity and backend checks, transpiled for a real device, inspected its per-qubit errors, submitted a live job, and compared simulator against hardware honestly. That's a complete, reusable recipe. If you want to go further: change reps or the optimization level and watch how depth and results move; try a different backend and compare its error map; run the VQE and TSP notebooks, which follow the identical pipeline with a different circuit; and look at Part 02, where a custom-penalty formulation shrinks the qubit count by avoiding slack variables. Keep your job id — you can reconnect and pull results anytime. Thanks, and I'm happy to take questions or help debug your connection now.</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2" name="Google Shape;22;p2"/>
          <p:cNvCxnSpPr/>
          <p:nvPr/>
        </p:nvCxnSpPr>
        <p:spPr>
          <a:xfrm>
            <a:off x="0" y="1250297"/>
            <a:ext cx="12192000" cy="0"/>
          </a:xfrm>
          <a:prstGeom prst="straightConnector1">
            <a:avLst/>
          </a:prstGeom>
          <a:noFill/>
          <a:ln cap="flat" cmpd="sng" w="9525">
            <a:solidFill>
              <a:srgbClr val="D5A10F"/>
            </a:solidFill>
            <a:prstDash val="solid"/>
            <a:miter lim="800000"/>
            <a:headEnd len="sm" w="sm" type="none"/>
            <a:tailEnd len="sm" w="sm" type="none"/>
          </a:ln>
        </p:spPr>
      </p:cxnSp>
      <p:pic>
        <p:nvPicPr>
          <p:cNvPr id="23" name="Google Shape;23;p2"/>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4" name="Shape 24"/>
        <p:cNvGrpSpPr/>
        <p:nvPr/>
      </p:nvGrpSpPr>
      <p:grpSpPr>
        <a:xfrm>
          <a:off x="0" y="0"/>
          <a:ext cx="0" cy="0"/>
          <a:chOff x="0" y="0"/>
          <a:chExt cx="0" cy="0"/>
        </a:xfrm>
      </p:grpSpPr>
      <p:pic>
        <p:nvPicPr>
          <p:cNvPr id="25" name="Google Shape;25;p3"/>
          <p:cNvPicPr preferRelativeResize="0"/>
          <p:nvPr/>
        </p:nvPicPr>
        <p:blipFill rotWithShape="1">
          <a:blip r:embed="rId2">
            <a:alphaModFix/>
          </a:blip>
          <a:srcRect b="0" l="-1" r="49658" t="0"/>
          <a:stretch/>
        </p:blipFill>
        <p:spPr>
          <a:xfrm>
            <a:off x="1" y="1"/>
            <a:ext cx="12191999" cy="1362268"/>
          </a:xfrm>
          <a:prstGeom prst="rect">
            <a:avLst/>
          </a:prstGeom>
          <a:noFill/>
          <a:ln>
            <a:noFill/>
          </a:ln>
        </p:spPr>
      </p:pic>
      <p:cxnSp>
        <p:nvCxnSpPr>
          <p:cNvPr id="26" name="Google Shape;26;p3"/>
          <p:cNvCxnSpPr/>
          <p:nvPr/>
        </p:nvCxnSpPr>
        <p:spPr>
          <a:xfrm>
            <a:off x="0" y="1362269"/>
            <a:ext cx="12192000" cy="0"/>
          </a:xfrm>
          <a:prstGeom prst="straightConnector1">
            <a:avLst/>
          </a:prstGeom>
          <a:noFill/>
          <a:ln cap="flat" cmpd="sng" w="9525">
            <a:solidFill>
              <a:srgbClr val="D5A10F"/>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7" name="Shape 27"/>
        <p:cNvGrpSpPr/>
        <p:nvPr/>
      </p:nvGrpSpPr>
      <p:grpSpPr>
        <a:xfrm>
          <a:off x="0" y="0"/>
          <a:ext cx="0" cy="0"/>
          <a:chOff x="0" y="0"/>
          <a:chExt cx="0" cy="0"/>
        </a:xfrm>
      </p:grpSpPr>
      <p:pic>
        <p:nvPicPr>
          <p:cNvPr descr="1.jpg" id="28" name="Google Shape;28;p4"/>
          <p:cNvPicPr preferRelativeResize="0"/>
          <p:nvPr/>
        </p:nvPicPr>
        <p:blipFill rotWithShape="1">
          <a:blip r:embed="rId2">
            <a:alphaModFix amt="36000"/>
          </a:blip>
          <a:srcRect b="0" l="0" r="0" t="0"/>
          <a:stretch/>
        </p:blipFill>
        <p:spPr>
          <a:xfrm>
            <a:off x="1426724" y="692513"/>
            <a:ext cx="10765276" cy="6165487"/>
          </a:xfrm>
          <a:prstGeom prst="rect">
            <a:avLst/>
          </a:prstGeom>
          <a:noFill/>
          <a:ln>
            <a:noFill/>
          </a:ln>
        </p:spPr>
      </p:pic>
      <p:pic>
        <p:nvPicPr>
          <p:cNvPr id="29" name="Google Shape;29;p4"/>
          <p:cNvPicPr preferRelativeResize="0"/>
          <p:nvPr/>
        </p:nvPicPr>
        <p:blipFill rotWithShape="1">
          <a:blip r:embed="rId3">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0" name="Shape 30"/>
        <p:cNvGrpSpPr/>
        <p:nvPr/>
      </p:nvGrpSpPr>
      <p:grpSpPr>
        <a:xfrm>
          <a:off x="0" y="0"/>
          <a:ext cx="0" cy="0"/>
          <a:chOff x="0" y="0"/>
          <a:chExt cx="0" cy="0"/>
        </a:xfrm>
      </p:grpSpPr>
      <p:pic>
        <p:nvPicPr>
          <p:cNvPr id="31" name="Google Shape;31;p5"/>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2" name="Shape 32"/>
        <p:cNvGrpSpPr/>
        <p:nvPr/>
      </p:nvGrpSpPr>
      <p:grpSpPr>
        <a:xfrm>
          <a:off x="0" y="0"/>
          <a:ext cx="0" cy="0"/>
          <a:chOff x="0" y="0"/>
          <a:chExt cx="0" cy="0"/>
        </a:xfrm>
      </p:grpSpPr>
      <p:sp>
        <p:nvSpPr>
          <p:cNvPr id="33" name="Google Shape;33;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 name="Google Shape;36;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0" name="Google Shape;40;p6"/>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txBox="1"/>
          <p:nvPr/>
        </p:nvSpPr>
        <p:spPr>
          <a:xfrm>
            <a:off x="5480050" y="0"/>
            <a:ext cx="1254125" cy="1219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SMU Classification: Restricted</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Rectangle 2"/>
          <p:cNvSpPr/>
          <p:nvPr/>
        </p:nvSpPr>
        <p:spPr>
          <a:xfrm>
            <a:off x="548640" y="1783080"/>
            <a:ext cx="960120" cy="82296"/>
          </a:xfrm>
          <a:prstGeom prst="rect">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965960"/>
            <a:ext cx="11064240" cy="1463040"/>
          </a:xfrm>
          <a:prstGeom prst="rect">
            <a:avLst/>
          </a:prstGeom>
          <a:noFill/>
        </p:spPr>
        <p:txBody>
          <a:bodyPr wrap="square" anchor="t" lIns="0" rIns="0" tIns="0" bIns="0">
            <a:spAutoFit/>
          </a:bodyPr>
          <a:lstStyle/>
          <a:p>
            <a:r>
              <a:rPr sz="3400" b="1" i="0">
                <a:solidFill>
                  <a:srgbClr val="11175E"/>
                </a:solidFill>
                <a:latin typeface="Cambria"/>
              </a:rPr>
              <a:t>Running QAOA on IBM Quantum Hardware</a:t>
            </a:r>
          </a:p>
          <a:p>
            <a:r>
              <a:rPr sz="1700" b="0" i="1">
                <a:solidFill>
                  <a:srgbClr val="3A429C"/>
                </a:solidFill>
                <a:latin typeface="Calibri"/>
              </a:rPr>
              <a:t>A hands-on walkthrough: solve a small knapsack, then run it on a real QPU</a:t>
            </a:r>
          </a:p>
        </p:txBody>
      </p:sp>
      <p:sp>
        <p:nvSpPr>
          <p:cNvPr id="5" name="TextBox 4"/>
          <p:cNvSpPr txBox="1"/>
          <p:nvPr/>
        </p:nvSpPr>
        <p:spPr>
          <a:xfrm>
            <a:off x="548640" y="3657600"/>
            <a:ext cx="11064240" cy="457200"/>
          </a:xfrm>
          <a:prstGeom prst="rect">
            <a:avLst/>
          </a:prstGeom>
          <a:noFill/>
        </p:spPr>
        <p:txBody>
          <a:bodyPr wrap="square" anchor="t" lIns="0" rIns="0" tIns="0" bIns="0">
            <a:spAutoFit/>
          </a:bodyPr>
          <a:lstStyle/>
          <a:p>
            <a:r>
              <a:rPr sz="1400" b="1" i="0">
                <a:solidFill>
                  <a:srgbClr val="1F4E6E"/>
                </a:solidFill>
                <a:latin typeface="Consolas"/>
              </a:rPr>
              <a:t>Follow along in:  part01/knapsack_qaoa.ipynb   →   part01/ibm_hardware_qaoa.ipynb</a:t>
            </a:r>
          </a:p>
        </p:txBody>
      </p:sp>
      <p:sp>
        <p:nvSpPr>
          <p:cNvPr id="6" name="TextBox 5"/>
          <p:cNvSpPr txBox="1"/>
          <p:nvPr/>
        </p:nvSpPr>
        <p:spPr>
          <a:xfrm>
            <a:off x="548640" y="4297680"/>
            <a:ext cx="11064240" cy="365760"/>
          </a:xfrm>
          <a:prstGeom prst="rect">
            <a:avLst/>
          </a:prstGeom>
          <a:noFill/>
        </p:spPr>
        <p:txBody>
          <a:bodyPr wrap="square" anchor="t" lIns="0" rIns="0" tIns="0" bIns="0">
            <a:spAutoFit/>
          </a:bodyPr>
          <a:lstStyle/>
          <a:p>
            <a:r>
              <a:rPr sz="1350" b="1" i="0">
                <a:solidFill>
                  <a:srgbClr val="1F4E6E"/>
                </a:solidFill>
                <a:latin typeface="Calibri"/>
              </a:rPr>
              <a:t>Problem → QUBO → QAOA</a:t>
            </a:r>
            <a:r>
              <a:rPr sz="1300" b="1" i="0">
                <a:solidFill>
                  <a:srgbClr val="C8960C"/>
                </a:solidFill>
                <a:latin typeface="Calibri"/>
              </a:rPr>
              <a:t>     •     </a:t>
            </a:r>
            <a:r>
              <a:rPr sz="1350" b="1" i="0">
                <a:solidFill>
                  <a:srgbClr val="1F4E6E"/>
                </a:solidFill>
                <a:latin typeface="Calibri"/>
              </a:rPr>
              <a:t>Access IBM Quantum</a:t>
            </a:r>
            <a:r>
              <a:rPr sz="1300" b="1" i="0">
                <a:solidFill>
                  <a:srgbClr val="C8960C"/>
                </a:solidFill>
                <a:latin typeface="Calibri"/>
              </a:rPr>
              <a:t>     •     </a:t>
            </a:r>
            <a:r>
              <a:rPr sz="1350" b="1" i="0">
                <a:solidFill>
                  <a:srgbClr val="1F4E6E"/>
                </a:solidFill>
                <a:latin typeface="Calibri"/>
              </a:rPr>
              <a:t>Transpile · submit · read results</a:t>
            </a:r>
          </a:p>
        </p:txBody>
      </p:sp>
      <p:sp>
        <p:nvSpPr>
          <p:cNvPr id="7" name="TextBox 6"/>
          <p:cNvSpPr txBox="1"/>
          <p:nvPr/>
        </p:nvSpPr>
        <p:spPr>
          <a:xfrm>
            <a:off x="548640" y="5257800"/>
            <a:ext cx="11064240" cy="1005840"/>
          </a:xfrm>
          <a:prstGeom prst="rect">
            <a:avLst/>
          </a:prstGeom>
          <a:noFill/>
        </p:spPr>
        <p:txBody>
          <a:bodyPr wrap="square" anchor="t" lIns="0" rIns="0" tIns="0" bIns="0">
            <a:spAutoFit/>
          </a:bodyPr>
          <a:lstStyle/>
          <a:p>
            <a:r>
              <a:rPr sz="1600" b="1" i="0">
                <a:solidFill>
                  <a:srgbClr val="11175E"/>
                </a:solidFill>
                <a:latin typeface="Calibri"/>
              </a:rPr>
              <a:t>Monit Sharma</a:t>
            </a:r>
          </a:p>
          <a:p>
            <a:r>
              <a:rPr sz="1300" b="0" i="0">
                <a:solidFill>
                  <a:srgbClr val="1A1A2E"/>
                </a:solidFill>
                <a:latin typeface="Calibri"/>
              </a:rPr>
              <a:t>SMU Quantum Optimisation Group  ·  Part 01 Hands-On Tutorial</a:t>
            </a:r>
          </a:p>
          <a:p>
            <a:r>
              <a:rPr sz="1250" b="1" i="0">
                <a:solidFill>
                  <a:srgbClr val="ED7D31"/>
                </a:solidFill>
                <a:latin typeface="Calibri"/>
              </a:rPr>
              <a:t>Japan–Singapore Workshop on Applied Quantum Optimisation  ·  25 Aug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What You'll Do in the Next 30 Minutes</a:t>
            </a:r>
          </a:p>
          <a:p>
            <a:r>
              <a:rPr sz="1400" b="0" i="1">
                <a:solidFill>
                  <a:srgbClr val="1F4E6E"/>
                </a:solidFill>
                <a:latin typeface="Calibri"/>
              </a:rPr>
              <a:t>A complete problem → quantum → hardware workflow</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1</a:t>
            </a:r>
          </a:p>
        </p:txBody>
      </p:sp>
      <p:sp>
        <p:nvSpPr>
          <p:cNvPr id="6" name="Rounded Rectangle 5"/>
          <p:cNvSpPr/>
          <p:nvPr/>
        </p:nvSpPr>
        <p:spPr>
          <a:xfrm>
            <a:off x="502920" y="2331720"/>
            <a:ext cx="2743200" cy="2011680"/>
          </a:xfrm>
          <a:prstGeom prst="roundRect">
            <a:avLst/>
          </a:prstGeom>
          <a:solidFill>
            <a:srgbClr val="F3F4F7"/>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00199" y="2532888"/>
            <a:ext cx="548640" cy="548640"/>
          </a:xfrm>
          <a:prstGeom prst="ellipse">
            <a:avLst/>
          </a:prstGeom>
          <a:solidFill>
            <a:srgbClr val="11175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Calibri"/>
              </a:rPr>
              <a:t>1</a:t>
            </a:r>
          </a:p>
        </p:txBody>
      </p:sp>
      <p:sp>
        <p:nvSpPr>
          <p:cNvPr id="8" name="TextBox 7"/>
          <p:cNvSpPr txBox="1"/>
          <p:nvPr/>
        </p:nvSpPr>
        <p:spPr>
          <a:xfrm>
            <a:off x="594360" y="3200400"/>
            <a:ext cx="2560320" cy="365760"/>
          </a:xfrm>
          <a:prstGeom prst="rect">
            <a:avLst/>
          </a:prstGeom>
          <a:noFill/>
        </p:spPr>
        <p:txBody>
          <a:bodyPr wrap="square" anchor="t" lIns="0" rIns="0" tIns="0" bIns="0">
            <a:spAutoFit/>
          </a:bodyPr>
          <a:lstStyle/>
          <a:p>
            <a:pPr algn="ctr"/>
            <a:r>
              <a:rPr sz="1500" b="1" i="0">
                <a:solidFill>
                  <a:srgbClr val="11175E"/>
                </a:solidFill>
                <a:latin typeface="Calibri"/>
              </a:rPr>
              <a:t>Model</a:t>
            </a:r>
          </a:p>
        </p:txBody>
      </p:sp>
      <p:sp>
        <p:nvSpPr>
          <p:cNvPr id="9" name="TextBox 8"/>
          <p:cNvSpPr txBox="1"/>
          <p:nvPr/>
        </p:nvSpPr>
        <p:spPr>
          <a:xfrm>
            <a:off x="667512" y="3611879"/>
            <a:ext cx="2414016" cy="685800"/>
          </a:xfrm>
          <a:prstGeom prst="rect">
            <a:avLst/>
          </a:prstGeom>
          <a:noFill/>
        </p:spPr>
        <p:txBody>
          <a:bodyPr wrap="square" anchor="t" lIns="0" rIns="0" tIns="0" bIns="0">
            <a:spAutoFit/>
          </a:bodyPr>
          <a:lstStyle/>
          <a:p>
            <a:pPr algn="ctr"/>
            <a:r>
              <a:rPr sz="1150" b="0" i="0">
                <a:solidFill>
                  <a:srgbClr val="1A1A2E"/>
                </a:solidFill>
                <a:latin typeface="Calibri"/>
              </a:rPr>
              <a:t>Turn a knapsack into a QUBO, then an Ising Hamiltonian</a:t>
            </a:r>
          </a:p>
        </p:txBody>
      </p:sp>
      <p:sp>
        <p:nvSpPr>
          <p:cNvPr id="10" name="Right Arrow 9"/>
          <p:cNvSpPr/>
          <p:nvPr/>
        </p:nvSpPr>
        <p:spPr>
          <a:xfrm>
            <a:off x="3250691" y="3246120"/>
            <a:ext cx="128016" cy="182880"/>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92424" y="2331720"/>
            <a:ext cx="2743200" cy="2011680"/>
          </a:xfrm>
          <a:prstGeom prst="roundRect">
            <a:avLst/>
          </a:prstGeom>
          <a:solidFill>
            <a:srgbClr val="F3F4F7"/>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89704" y="2532888"/>
            <a:ext cx="548640" cy="548640"/>
          </a:xfrm>
          <a:prstGeom prst="ellipse">
            <a:avLst/>
          </a:prstGeom>
          <a:solidFill>
            <a:srgbClr val="3A42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Calibri"/>
              </a:rPr>
              <a:t>2</a:t>
            </a:r>
          </a:p>
        </p:txBody>
      </p:sp>
      <p:sp>
        <p:nvSpPr>
          <p:cNvPr id="13" name="TextBox 12"/>
          <p:cNvSpPr txBox="1"/>
          <p:nvPr/>
        </p:nvSpPr>
        <p:spPr>
          <a:xfrm>
            <a:off x="3483864" y="3200400"/>
            <a:ext cx="2560320" cy="365760"/>
          </a:xfrm>
          <a:prstGeom prst="rect">
            <a:avLst/>
          </a:prstGeom>
          <a:noFill/>
        </p:spPr>
        <p:txBody>
          <a:bodyPr wrap="square" anchor="t" lIns="0" rIns="0" tIns="0" bIns="0">
            <a:spAutoFit/>
          </a:bodyPr>
          <a:lstStyle/>
          <a:p>
            <a:pPr algn="ctr"/>
            <a:r>
              <a:rPr sz="1500" b="1" i="0">
                <a:solidFill>
                  <a:srgbClr val="3A429C"/>
                </a:solidFill>
                <a:latin typeface="Calibri"/>
              </a:rPr>
              <a:t>Solve</a:t>
            </a:r>
          </a:p>
        </p:txBody>
      </p:sp>
      <p:sp>
        <p:nvSpPr>
          <p:cNvPr id="14" name="TextBox 13"/>
          <p:cNvSpPr txBox="1"/>
          <p:nvPr/>
        </p:nvSpPr>
        <p:spPr>
          <a:xfrm>
            <a:off x="3557016" y="3611879"/>
            <a:ext cx="2414016" cy="685800"/>
          </a:xfrm>
          <a:prstGeom prst="rect">
            <a:avLst/>
          </a:prstGeom>
          <a:noFill/>
        </p:spPr>
        <p:txBody>
          <a:bodyPr wrap="square" anchor="t" lIns="0" rIns="0" tIns="0" bIns="0">
            <a:spAutoFit/>
          </a:bodyPr>
          <a:lstStyle/>
          <a:p>
            <a:pPr algn="ctr"/>
            <a:r>
              <a:rPr sz="1150" b="0" i="0">
                <a:solidFill>
                  <a:srgbClr val="1A1A2E"/>
                </a:solidFill>
                <a:latin typeface="Calibri"/>
              </a:rPr>
              <a:t>Build a QAOA circuit and optimise it on a simulator</a:t>
            </a:r>
          </a:p>
        </p:txBody>
      </p:sp>
      <p:sp>
        <p:nvSpPr>
          <p:cNvPr id="15" name="Right Arrow 14"/>
          <p:cNvSpPr/>
          <p:nvPr/>
        </p:nvSpPr>
        <p:spPr>
          <a:xfrm>
            <a:off x="6140196" y="3246120"/>
            <a:ext cx="128016" cy="182880"/>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81928" y="2331720"/>
            <a:ext cx="2743200" cy="2011680"/>
          </a:xfrm>
          <a:prstGeom prst="roundRect">
            <a:avLst/>
          </a:prstGeom>
          <a:solidFill>
            <a:srgbClr val="F3F4F7"/>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79208" y="2532888"/>
            <a:ext cx="548640" cy="548640"/>
          </a:xfrm>
          <a:prstGeom prst="ellipse">
            <a:avLst/>
          </a:prstGeom>
          <a:solidFill>
            <a:srgbClr val="1F4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Calibri"/>
              </a:rPr>
              <a:t>3</a:t>
            </a:r>
          </a:p>
        </p:txBody>
      </p:sp>
      <p:sp>
        <p:nvSpPr>
          <p:cNvPr id="18" name="TextBox 17"/>
          <p:cNvSpPr txBox="1"/>
          <p:nvPr/>
        </p:nvSpPr>
        <p:spPr>
          <a:xfrm>
            <a:off x="6373368" y="3200400"/>
            <a:ext cx="2560320" cy="365760"/>
          </a:xfrm>
          <a:prstGeom prst="rect">
            <a:avLst/>
          </a:prstGeom>
          <a:noFill/>
        </p:spPr>
        <p:txBody>
          <a:bodyPr wrap="square" anchor="t" lIns="0" rIns="0" tIns="0" bIns="0">
            <a:spAutoFit/>
          </a:bodyPr>
          <a:lstStyle/>
          <a:p>
            <a:pPr algn="ctr"/>
            <a:r>
              <a:rPr sz="1500" b="1" i="0">
                <a:solidFill>
                  <a:srgbClr val="1F4E6E"/>
                </a:solidFill>
                <a:latin typeface="Calibri"/>
              </a:rPr>
              <a:t>Access</a:t>
            </a:r>
          </a:p>
        </p:txBody>
      </p:sp>
      <p:sp>
        <p:nvSpPr>
          <p:cNvPr id="19" name="TextBox 18"/>
          <p:cNvSpPr txBox="1"/>
          <p:nvPr/>
        </p:nvSpPr>
        <p:spPr>
          <a:xfrm>
            <a:off x="6446520" y="3611879"/>
            <a:ext cx="2414016" cy="685800"/>
          </a:xfrm>
          <a:prstGeom prst="rect">
            <a:avLst/>
          </a:prstGeom>
          <a:noFill/>
        </p:spPr>
        <p:txBody>
          <a:bodyPr wrap="square" anchor="t" lIns="0" rIns="0" tIns="0" bIns="0">
            <a:spAutoFit/>
          </a:bodyPr>
          <a:lstStyle/>
          <a:p>
            <a:pPr algn="ctr"/>
            <a:r>
              <a:rPr sz="1150" b="0" i="0">
                <a:solidFill>
                  <a:srgbClr val="1A1A2E"/>
                </a:solidFill>
                <a:latin typeface="Calibri"/>
              </a:rPr>
              <a:t>Connect to IBM Quantum and pick a real backend</a:t>
            </a:r>
          </a:p>
        </p:txBody>
      </p:sp>
      <p:sp>
        <p:nvSpPr>
          <p:cNvPr id="20" name="Right Arrow 19"/>
          <p:cNvSpPr/>
          <p:nvPr/>
        </p:nvSpPr>
        <p:spPr>
          <a:xfrm>
            <a:off x="9029700" y="3246120"/>
            <a:ext cx="128016" cy="182880"/>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71432" y="2331720"/>
            <a:ext cx="2743200" cy="2011680"/>
          </a:xfrm>
          <a:prstGeom prst="roundRect">
            <a:avLst/>
          </a:prstGeom>
          <a:solidFill>
            <a:srgbClr val="F3F4F7"/>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68712" y="2532888"/>
            <a:ext cx="548640" cy="548640"/>
          </a:xfrm>
          <a:prstGeom prst="ellipse">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Calibri"/>
              </a:rPr>
              <a:t>4</a:t>
            </a:r>
          </a:p>
        </p:txBody>
      </p:sp>
      <p:sp>
        <p:nvSpPr>
          <p:cNvPr id="23" name="TextBox 22"/>
          <p:cNvSpPr txBox="1"/>
          <p:nvPr/>
        </p:nvSpPr>
        <p:spPr>
          <a:xfrm>
            <a:off x="9262872" y="3200400"/>
            <a:ext cx="2560320" cy="365760"/>
          </a:xfrm>
          <a:prstGeom prst="rect">
            <a:avLst/>
          </a:prstGeom>
          <a:noFill/>
        </p:spPr>
        <p:txBody>
          <a:bodyPr wrap="square" anchor="t" lIns="0" rIns="0" tIns="0" bIns="0">
            <a:spAutoFit/>
          </a:bodyPr>
          <a:lstStyle/>
          <a:p>
            <a:pPr algn="ctr"/>
            <a:r>
              <a:rPr sz="1500" b="1" i="0">
                <a:solidFill>
                  <a:srgbClr val="C8960C"/>
                </a:solidFill>
                <a:latin typeface="Calibri"/>
              </a:rPr>
              <a:t>Run</a:t>
            </a:r>
          </a:p>
        </p:txBody>
      </p:sp>
      <p:sp>
        <p:nvSpPr>
          <p:cNvPr id="24" name="TextBox 23"/>
          <p:cNvSpPr txBox="1"/>
          <p:nvPr/>
        </p:nvSpPr>
        <p:spPr>
          <a:xfrm>
            <a:off x="9336024" y="3611879"/>
            <a:ext cx="2414016" cy="685800"/>
          </a:xfrm>
          <a:prstGeom prst="rect">
            <a:avLst/>
          </a:prstGeom>
          <a:noFill/>
        </p:spPr>
        <p:txBody>
          <a:bodyPr wrap="square" anchor="t" lIns="0" rIns="0" tIns="0" bIns="0">
            <a:spAutoFit/>
          </a:bodyPr>
          <a:lstStyle/>
          <a:p>
            <a:pPr algn="ctr"/>
            <a:r>
              <a:rPr sz="1150" b="0" i="0">
                <a:solidFill>
                  <a:srgbClr val="1A1A2E"/>
                </a:solidFill>
                <a:latin typeface="Calibri"/>
              </a:rPr>
              <a:t>Transpile, submit a live job, and read the results</a:t>
            </a:r>
          </a:p>
        </p:txBody>
      </p:sp>
      <p:sp>
        <p:nvSpPr>
          <p:cNvPr id="25" name="Rounded Rectangle 24"/>
          <p:cNvSpPr/>
          <p:nvPr/>
        </p:nvSpPr>
        <p:spPr>
          <a:xfrm>
            <a:off x="502920" y="4617720"/>
            <a:ext cx="5486400" cy="1371600"/>
          </a:xfrm>
          <a:prstGeom prst="roundRect">
            <a:avLst/>
          </a:prstGeom>
          <a:solidFill>
            <a:srgbClr val="ECEEF6"/>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764024"/>
            <a:ext cx="5084064" cy="457200"/>
          </a:xfrm>
          <a:prstGeom prst="rect">
            <a:avLst/>
          </a:prstGeom>
          <a:noFill/>
        </p:spPr>
        <p:txBody>
          <a:bodyPr wrap="square" anchor="t" lIns="0" rIns="0" tIns="0" bIns="0">
            <a:spAutoFit/>
          </a:bodyPr>
          <a:lstStyle/>
          <a:p>
            <a:r>
              <a:rPr sz="1400" b="1" i="0">
                <a:solidFill>
                  <a:srgbClr val="11175E"/>
                </a:solidFill>
                <a:latin typeface="Calibri"/>
              </a:rPr>
              <a:t>You'll leave able to</a:t>
            </a:r>
          </a:p>
        </p:txBody>
      </p:sp>
      <p:sp>
        <p:nvSpPr>
          <p:cNvPr id="27" name="TextBox 26"/>
          <p:cNvSpPr txBox="1"/>
          <p:nvPr/>
        </p:nvSpPr>
        <p:spPr>
          <a:xfrm>
            <a:off x="704088" y="5184648"/>
            <a:ext cx="5084064" cy="694943"/>
          </a:xfrm>
          <a:prstGeom prst="rect">
            <a:avLst/>
          </a:prstGeom>
          <a:noFill/>
        </p:spPr>
        <p:txBody>
          <a:bodyPr wrap="square" anchor="ctr" lIns="0" rIns="0" tIns="0" bIns="0">
            <a:spAutoFit/>
          </a:bodyPr>
          <a:lstStyle/>
          <a:p>
            <a:pPr>
              <a:spcAft>
                <a:spcPts val="400"/>
              </a:spcAft>
            </a:pPr>
            <a:r>
              <a:rPr sz="1300" b="0" i="0">
                <a:solidFill>
                  <a:srgbClr val="1A1A2E"/>
                </a:solidFill>
                <a:latin typeface="Calibri"/>
              </a:rPr>
              <a:t>Formulate a real problem for a quantum computer, and</a:t>
            </a:r>
          </a:p>
          <a:p>
            <a:pPr>
              <a:spcAft>
                <a:spcPts val="400"/>
              </a:spcAft>
            </a:pPr>
            <a:r>
              <a:rPr sz="1300" b="0" i="0">
                <a:solidFill>
                  <a:srgbClr val="1A1A2E"/>
                </a:solidFill>
                <a:latin typeface="Calibri"/>
              </a:rPr>
              <a:t>submit and interpret a job on IBM Quantum yourself.</a:t>
            </a:r>
          </a:p>
        </p:txBody>
      </p:sp>
      <p:sp>
        <p:nvSpPr>
          <p:cNvPr id="28" name="Rounded Rectangle 27"/>
          <p:cNvSpPr/>
          <p:nvPr/>
        </p:nvSpPr>
        <p:spPr>
          <a:xfrm>
            <a:off x="6199632" y="4617720"/>
            <a:ext cx="5486400" cy="1371600"/>
          </a:xfrm>
          <a:prstGeom prst="roundRect">
            <a:avLst/>
          </a:prstGeom>
          <a:solidFill>
            <a:srgbClr val="FBF3DD"/>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764024"/>
            <a:ext cx="5084064" cy="457200"/>
          </a:xfrm>
          <a:prstGeom prst="rect">
            <a:avLst/>
          </a:prstGeom>
          <a:noFill/>
        </p:spPr>
        <p:txBody>
          <a:bodyPr wrap="square" anchor="t" lIns="0" rIns="0" tIns="0" bIns="0">
            <a:spAutoFit/>
          </a:bodyPr>
          <a:lstStyle/>
          <a:p>
            <a:r>
              <a:rPr sz="1400" b="1" i="0">
                <a:solidFill>
                  <a:srgbClr val="1F4E6E"/>
                </a:solidFill>
                <a:latin typeface="Calibri"/>
              </a:rPr>
              <a:t>Ground rules</a:t>
            </a:r>
          </a:p>
        </p:txBody>
      </p:sp>
      <p:sp>
        <p:nvSpPr>
          <p:cNvPr id="30" name="TextBox 29"/>
          <p:cNvSpPr txBox="1"/>
          <p:nvPr/>
        </p:nvSpPr>
        <p:spPr>
          <a:xfrm>
            <a:off x="6400800" y="5184648"/>
            <a:ext cx="5084064" cy="694943"/>
          </a:xfrm>
          <a:prstGeom prst="rect">
            <a:avLst/>
          </a:prstGeom>
          <a:noFill/>
        </p:spPr>
        <p:txBody>
          <a:bodyPr wrap="square" anchor="ctr" lIns="0" rIns="0" tIns="0" bIns="0">
            <a:spAutoFit/>
          </a:bodyPr>
          <a:lstStyle/>
          <a:p>
            <a:pPr>
              <a:spcAft>
                <a:spcPts val="400"/>
              </a:spcAft>
            </a:pPr>
            <a:r>
              <a:rPr sz="1300" b="0" i="0">
                <a:solidFill>
                  <a:srgbClr val="1A1A2E"/>
                </a:solidFill>
                <a:latin typeface="Calibri"/>
              </a:rPr>
              <a:t>QAOA is </a:t>
            </a:r>
            <a:r>
              <a:rPr sz="1300" b="1" i="0">
                <a:solidFill>
                  <a:srgbClr val="C0392B"/>
                </a:solidFill>
                <a:latin typeface="Calibri"/>
              </a:rPr>
              <a:t>heuristic</a:t>
            </a:r>
            <a:r>
              <a:rPr sz="1300" b="0" i="0">
                <a:solidFill>
                  <a:srgbClr val="1A1A2E"/>
                </a:solidFill>
                <a:latin typeface="Calibri"/>
              </a:rPr>
              <a:t> — measurement gives samples, not a guaranteed optimum.</a:t>
            </a:r>
          </a:p>
          <a:p>
            <a:pPr>
              <a:spcAft>
                <a:spcPts val="400"/>
              </a:spcAft>
            </a:pPr>
            <a:r>
              <a:rPr sz="1300" b="0" i="0">
                <a:solidFill>
                  <a:srgbClr val="1A1A2E"/>
                </a:solidFill>
                <a:latin typeface="Calibri"/>
              </a:rPr>
              <a:t>Hardware cells are </a:t>
            </a:r>
            <a:r>
              <a:rPr sz="1300" b="1" i="0">
                <a:solidFill>
                  <a:srgbClr val="C8960C"/>
                </a:solidFill>
                <a:latin typeface="Calibri"/>
              </a:rPr>
              <a:t>opt-in</a:t>
            </a:r>
            <a:r>
              <a:rPr sz="1300" b="0" i="0">
                <a:solidFill>
                  <a:srgbClr val="1A1A2E"/>
                </a:solidFill>
                <a:latin typeface="Calibri"/>
              </a:rPr>
              <a:t>: nothing submits until you say so.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1 — The Problem: A Small Knapsack</a:t>
            </a:r>
          </a:p>
          <a:p>
            <a:r>
              <a:rPr sz="1400" b="0" i="1">
                <a:solidFill>
                  <a:srgbClr val="1F4E6E"/>
                </a:solidFill>
                <a:latin typeface="Calibri"/>
              </a:rPr>
              <a:t>Pick items to maximise value without exceeding the weight capacity</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2</a:t>
            </a:r>
          </a:p>
        </p:txBody>
      </p:sp>
      <p:pic>
        <p:nvPicPr>
          <p:cNvPr id="6" name="Picture 5" descr="knapsack_instance.png"/>
          <p:cNvPicPr>
            <a:picLocks noChangeAspect="1"/>
          </p:cNvPicPr>
          <p:nvPr/>
        </p:nvPicPr>
        <p:blipFill>
          <a:blip r:embed="rId3"/>
          <a:stretch>
            <a:fillRect/>
          </a:stretch>
        </p:blipFill>
        <p:spPr>
          <a:xfrm>
            <a:off x="457200" y="2148840"/>
            <a:ext cx="7406640" cy="3701489"/>
          </a:xfrm>
          <a:prstGeom prst="rect">
            <a:avLst/>
          </a:prstGeom>
        </p:spPr>
      </p:pic>
      <p:sp>
        <p:nvSpPr>
          <p:cNvPr id="7" name="TextBox 6"/>
          <p:cNvSpPr txBox="1"/>
          <p:nvPr/>
        </p:nvSpPr>
        <p:spPr>
          <a:xfrm>
            <a:off x="7635240" y="2377440"/>
            <a:ext cx="4069080" cy="3200400"/>
          </a:xfrm>
          <a:prstGeom prst="rect">
            <a:avLst/>
          </a:prstGeom>
          <a:noFill/>
        </p:spPr>
        <p:txBody>
          <a:bodyPr wrap="square" anchor="t" lIns="0" rIns="0" tIns="0" bIns="0">
            <a:spAutoFit/>
          </a:bodyPr>
          <a:lstStyle/>
          <a:p>
            <a:pPr>
              <a:spcAft>
                <a:spcPts val="1100"/>
              </a:spcAft>
            </a:pPr>
            <a:r>
              <a:rPr sz="1400" b="1" i="0">
                <a:solidFill>
                  <a:srgbClr val="C8960C"/>
                </a:solidFill>
                <a:latin typeface="Calibri"/>
              </a:rPr>
              <a:t>•  </a:t>
            </a:r>
            <a:r>
              <a:rPr sz="1400" b="1" i="0">
                <a:solidFill>
                  <a:srgbClr val="11175E"/>
                </a:solidFill>
                <a:latin typeface="Calibri"/>
              </a:rPr>
              <a:t>6 items</a:t>
            </a:r>
            <a:r>
              <a:rPr sz="1400" b="0" i="0">
                <a:solidFill>
                  <a:srgbClr val="1A1A2E"/>
                </a:solidFill>
                <a:latin typeface="Calibri"/>
              </a:rPr>
              <a:t>, each with a weight and a value.</a:t>
            </a:r>
          </a:p>
          <a:p>
            <a:pPr>
              <a:spcAft>
                <a:spcPts val="1100"/>
              </a:spcAft>
            </a:pPr>
            <a:r>
              <a:rPr sz="1400" b="1" i="0">
                <a:solidFill>
                  <a:srgbClr val="C8960C"/>
                </a:solidFill>
                <a:latin typeface="Calibri"/>
              </a:rPr>
              <a:t>•  </a:t>
            </a:r>
            <a:r>
              <a:rPr sz="1400" b="1" i="0">
                <a:solidFill>
                  <a:srgbClr val="11175E"/>
                </a:solidFill>
                <a:latin typeface="Calibri"/>
              </a:rPr>
              <a:t>Capacity = 14</a:t>
            </a:r>
            <a:r>
              <a:rPr sz="1400" b="0" i="0">
                <a:solidFill>
                  <a:srgbClr val="1A1A2E"/>
                </a:solidFill>
                <a:latin typeface="Calibri"/>
              </a:rPr>
              <a:t> — total weight can't exceed it.</a:t>
            </a:r>
          </a:p>
          <a:p>
            <a:pPr>
              <a:spcAft>
                <a:spcPts val="1100"/>
              </a:spcAft>
            </a:pPr>
            <a:r>
              <a:rPr sz="1400" b="1" i="0">
                <a:solidFill>
                  <a:srgbClr val="C8960C"/>
                </a:solidFill>
                <a:latin typeface="Calibri"/>
              </a:rPr>
              <a:t>•  </a:t>
            </a:r>
            <a:r>
              <a:rPr sz="1400" b="1" i="0">
                <a:solidFill>
                  <a:srgbClr val="1F4E6E"/>
                </a:solidFill>
                <a:latin typeface="Calibri"/>
              </a:rPr>
              <a:t>Binary choice</a:t>
            </a:r>
            <a:r>
              <a:rPr sz="1400" b="0" i="0">
                <a:solidFill>
                  <a:srgbClr val="1A1A2E"/>
                </a:solidFill>
                <a:latin typeface="Calibri"/>
              </a:rPr>
              <a:t>: each item is in or out.</a:t>
            </a:r>
          </a:p>
          <a:p>
            <a:pPr>
              <a:spcAft>
                <a:spcPts val="1100"/>
              </a:spcAft>
            </a:pPr>
            <a:r>
              <a:rPr sz="1400" b="1" i="0">
                <a:solidFill>
                  <a:srgbClr val="C8960C"/>
                </a:solidFill>
                <a:latin typeface="Calibri"/>
              </a:rPr>
              <a:t>•  </a:t>
            </a:r>
            <a:r>
              <a:rPr sz="1400" b="0" i="0">
                <a:solidFill>
                  <a:srgbClr val="1A1A2E"/>
                </a:solidFill>
                <a:latin typeface="Calibri"/>
              </a:rPr>
              <a:t>Exact optimum: </a:t>
            </a:r>
            <a:r>
              <a:rPr sz="1400" b="1" i="0">
                <a:solidFill>
                  <a:srgbClr val="1E8449"/>
                </a:solidFill>
                <a:latin typeface="Calibri"/>
              </a:rPr>
              <a:t>value 50</a:t>
            </a:r>
            <a:r>
              <a:rPr sz="1400" b="0" i="0">
                <a:solidFill>
                  <a:srgbClr val="1A1A2E"/>
                </a:solidFill>
                <a:latin typeface="Calibri"/>
              </a:rPr>
              <a:t> (items 3 &amp; 4).</a:t>
            </a:r>
          </a:p>
          <a:p>
            <a:pPr>
              <a:spcAft>
                <a:spcPts val="1100"/>
              </a:spcAft>
            </a:pPr>
            <a:r>
              <a:rPr sz="1400" b="1" i="0">
                <a:solidFill>
                  <a:srgbClr val="C8960C"/>
                </a:solidFill>
                <a:latin typeface="Calibri"/>
              </a:rPr>
              <a:t>•  </a:t>
            </a:r>
            <a:r>
              <a:rPr sz="1400" b="0" i="0">
                <a:solidFill>
                  <a:srgbClr val="1A1A2E"/>
                </a:solidFill>
                <a:latin typeface="Calibri"/>
              </a:rPr>
              <a:t>We compute this with </a:t>
            </a:r>
            <a:r>
              <a:rPr sz="1400" b="1" i="0">
                <a:solidFill>
                  <a:srgbClr val="11175E"/>
                </a:solidFill>
                <a:latin typeface="Calibri"/>
              </a:rPr>
              <a:t>CPLEX</a:t>
            </a:r>
            <a:r>
              <a:rPr sz="1400" b="0" i="0">
                <a:solidFill>
                  <a:srgbClr val="1A1A2E"/>
                </a:solidFill>
                <a:latin typeface="Calibri"/>
              </a:rPr>
              <a:t> first — our benchmark.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1 — The Full Workflow</a:t>
            </a:r>
          </a:p>
          <a:p>
            <a:r>
              <a:rPr sz="1400" b="0" i="1">
                <a:solidFill>
                  <a:srgbClr val="1F4E6E"/>
                </a:solidFill>
                <a:latin typeface="Calibri"/>
              </a:rPr>
              <a:t>Every quantum-optimisation tutorial follows this same pipeline</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3</a:t>
            </a:r>
          </a:p>
        </p:txBody>
      </p:sp>
      <p:sp>
        <p:nvSpPr>
          <p:cNvPr id="6" name="Rounded Rectangle 5"/>
          <p:cNvSpPr/>
          <p:nvPr/>
        </p:nvSpPr>
        <p:spPr>
          <a:xfrm>
            <a:off x="457200" y="2514600"/>
            <a:ext cx="1481328" cy="1371600"/>
          </a:xfrm>
          <a:prstGeom prst="roundRect">
            <a:avLst/>
          </a:prstGeom>
          <a:solidFill>
            <a:srgbClr val="F3F4F7"/>
          </a:solidFill>
          <a:ln w="22225">
            <a:solidFill>
              <a:srgbClr val="111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2642616"/>
            <a:ext cx="1371600" cy="566928"/>
          </a:xfrm>
          <a:prstGeom prst="rect">
            <a:avLst/>
          </a:prstGeom>
          <a:noFill/>
        </p:spPr>
        <p:txBody>
          <a:bodyPr wrap="square" anchor="t" lIns="0" rIns="0" tIns="0" bIns="0">
            <a:spAutoFit/>
          </a:bodyPr>
          <a:lstStyle/>
          <a:p>
            <a:pPr algn="ctr"/>
            <a:r>
              <a:rPr sz="1150" b="1" i="0">
                <a:solidFill>
                  <a:srgbClr val="11175E"/>
                </a:solidFill>
                <a:latin typeface="Calibri"/>
              </a:rPr>
              <a:t>Problem</a:t>
            </a:r>
          </a:p>
        </p:txBody>
      </p:sp>
      <p:sp>
        <p:nvSpPr>
          <p:cNvPr id="8" name="TextBox 7"/>
          <p:cNvSpPr txBox="1"/>
          <p:nvPr/>
        </p:nvSpPr>
        <p:spPr>
          <a:xfrm>
            <a:off x="512064" y="3300984"/>
            <a:ext cx="1371600" cy="502920"/>
          </a:xfrm>
          <a:prstGeom prst="rect">
            <a:avLst/>
          </a:prstGeom>
          <a:noFill/>
        </p:spPr>
        <p:txBody>
          <a:bodyPr wrap="square" anchor="t" lIns="0" rIns="0" tIns="0" bIns="0">
            <a:spAutoFit/>
          </a:bodyPr>
          <a:lstStyle/>
          <a:p>
            <a:pPr algn="ctr"/>
            <a:r>
              <a:rPr sz="950" b="0" i="0">
                <a:solidFill>
                  <a:srgbClr val="1A1A2E"/>
                </a:solidFill>
                <a:latin typeface="Calibri"/>
              </a:rPr>
              <a:t>knapsack</a:t>
            </a:r>
          </a:p>
        </p:txBody>
      </p:sp>
      <p:sp>
        <p:nvSpPr>
          <p:cNvPr id="9" name="Right Arrow 8"/>
          <p:cNvSpPr/>
          <p:nvPr/>
        </p:nvSpPr>
        <p:spPr>
          <a:xfrm>
            <a:off x="1943100" y="3127248"/>
            <a:ext cx="109728" cy="146304"/>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66544" y="2514600"/>
            <a:ext cx="1481328" cy="1371600"/>
          </a:xfrm>
          <a:prstGeom prst="roundRect">
            <a:avLst/>
          </a:prstGeom>
          <a:solidFill>
            <a:srgbClr val="F3F4F7"/>
          </a:solidFill>
          <a:ln w="22225">
            <a:solidFill>
              <a:srgbClr val="3A4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1408" y="2642616"/>
            <a:ext cx="1371600" cy="566928"/>
          </a:xfrm>
          <a:prstGeom prst="rect">
            <a:avLst/>
          </a:prstGeom>
          <a:noFill/>
        </p:spPr>
        <p:txBody>
          <a:bodyPr wrap="square" anchor="t" lIns="0" rIns="0" tIns="0" bIns="0">
            <a:spAutoFit/>
          </a:bodyPr>
          <a:lstStyle/>
          <a:p>
            <a:pPr algn="ctr"/>
            <a:r>
              <a:rPr sz="1150" b="1" i="0">
                <a:solidFill>
                  <a:srgbClr val="3A429C"/>
                </a:solidFill>
                <a:latin typeface="Calibri"/>
              </a:rPr>
              <a:t>Quadratic</a:t>
            </a:r>
          </a:p>
          <a:p>
            <a:pPr algn="ctr"/>
            <a:r>
              <a:rPr sz="1150" b="1" i="0">
                <a:solidFill>
                  <a:srgbClr val="3A429C"/>
                </a:solidFill>
                <a:latin typeface="Calibri"/>
              </a:rPr>
              <a:t>Program</a:t>
            </a:r>
          </a:p>
        </p:txBody>
      </p:sp>
      <p:sp>
        <p:nvSpPr>
          <p:cNvPr id="12" name="TextBox 11"/>
          <p:cNvSpPr txBox="1"/>
          <p:nvPr/>
        </p:nvSpPr>
        <p:spPr>
          <a:xfrm>
            <a:off x="2121408" y="3300984"/>
            <a:ext cx="1371600" cy="502920"/>
          </a:xfrm>
          <a:prstGeom prst="rect">
            <a:avLst/>
          </a:prstGeom>
          <a:noFill/>
        </p:spPr>
        <p:txBody>
          <a:bodyPr wrap="square" anchor="t" lIns="0" rIns="0" tIns="0" bIns="0">
            <a:spAutoFit/>
          </a:bodyPr>
          <a:lstStyle/>
          <a:p>
            <a:pPr algn="ctr"/>
            <a:r>
              <a:rPr sz="950" b="0" i="0">
                <a:solidFill>
                  <a:srgbClr val="1A1A2E"/>
                </a:solidFill>
                <a:latin typeface="Calibri"/>
              </a:rPr>
              <a:t>Qiskit model</a:t>
            </a:r>
          </a:p>
        </p:txBody>
      </p:sp>
      <p:sp>
        <p:nvSpPr>
          <p:cNvPr id="13" name="Right Arrow 12"/>
          <p:cNvSpPr/>
          <p:nvPr/>
        </p:nvSpPr>
        <p:spPr>
          <a:xfrm>
            <a:off x="3552444" y="3127248"/>
            <a:ext cx="109728" cy="146304"/>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75888" y="2514600"/>
            <a:ext cx="1481328" cy="1371600"/>
          </a:xfrm>
          <a:prstGeom prst="roundRect">
            <a:avLst/>
          </a:prstGeom>
          <a:solidFill>
            <a:srgbClr val="F3F4F7"/>
          </a:solidFill>
          <a:ln w="22225">
            <a:solidFill>
              <a:srgbClr val="1F4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30752" y="2642616"/>
            <a:ext cx="1371600" cy="566928"/>
          </a:xfrm>
          <a:prstGeom prst="rect">
            <a:avLst/>
          </a:prstGeom>
          <a:noFill/>
        </p:spPr>
        <p:txBody>
          <a:bodyPr wrap="square" anchor="t" lIns="0" rIns="0" tIns="0" bIns="0">
            <a:spAutoFit/>
          </a:bodyPr>
          <a:lstStyle/>
          <a:p>
            <a:pPr algn="ctr"/>
            <a:r>
              <a:rPr sz="1150" b="1" i="0">
                <a:solidFill>
                  <a:srgbClr val="1F4E6E"/>
                </a:solidFill>
                <a:latin typeface="Calibri"/>
              </a:rPr>
              <a:t>QUBO</a:t>
            </a:r>
          </a:p>
        </p:txBody>
      </p:sp>
      <p:sp>
        <p:nvSpPr>
          <p:cNvPr id="16" name="TextBox 15"/>
          <p:cNvSpPr txBox="1"/>
          <p:nvPr/>
        </p:nvSpPr>
        <p:spPr>
          <a:xfrm>
            <a:off x="3730752" y="3300984"/>
            <a:ext cx="1371600" cy="502920"/>
          </a:xfrm>
          <a:prstGeom prst="rect">
            <a:avLst/>
          </a:prstGeom>
          <a:noFill/>
        </p:spPr>
        <p:txBody>
          <a:bodyPr wrap="square" anchor="t" lIns="0" rIns="0" tIns="0" bIns="0">
            <a:spAutoFit/>
          </a:bodyPr>
          <a:lstStyle/>
          <a:p>
            <a:pPr algn="ctr"/>
            <a:r>
              <a:rPr sz="950" b="0" i="0">
                <a:solidFill>
                  <a:srgbClr val="1A1A2E"/>
                </a:solidFill>
                <a:latin typeface="Calibri"/>
              </a:rPr>
              <a:t>+ slack vars</a:t>
            </a:r>
          </a:p>
        </p:txBody>
      </p:sp>
      <p:sp>
        <p:nvSpPr>
          <p:cNvPr id="17" name="Right Arrow 16"/>
          <p:cNvSpPr/>
          <p:nvPr/>
        </p:nvSpPr>
        <p:spPr>
          <a:xfrm>
            <a:off x="5161788" y="3127248"/>
            <a:ext cx="109728" cy="146304"/>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85232" y="2514600"/>
            <a:ext cx="1481328" cy="1371600"/>
          </a:xfrm>
          <a:prstGeom prst="roundRect">
            <a:avLst/>
          </a:prstGeom>
          <a:solidFill>
            <a:srgbClr val="F3F4F7"/>
          </a:solidFill>
          <a:ln w="222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0096" y="2642616"/>
            <a:ext cx="1371600" cy="566928"/>
          </a:xfrm>
          <a:prstGeom prst="rect">
            <a:avLst/>
          </a:prstGeom>
          <a:noFill/>
        </p:spPr>
        <p:txBody>
          <a:bodyPr wrap="square" anchor="t" lIns="0" rIns="0" tIns="0" bIns="0">
            <a:spAutoFit/>
          </a:bodyPr>
          <a:lstStyle/>
          <a:p>
            <a:pPr algn="ctr"/>
            <a:r>
              <a:rPr sz="1150" b="1" i="0">
                <a:solidFill>
                  <a:srgbClr val="C0392B"/>
                </a:solidFill>
                <a:latin typeface="Calibri"/>
              </a:rPr>
              <a:t>Ising H</a:t>
            </a:r>
          </a:p>
        </p:txBody>
      </p:sp>
      <p:sp>
        <p:nvSpPr>
          <p:cNvPr id="20" name="TextBox 19"/>
          <p:cNvSpPr txBox="1"/>
          <p:nvPr/>
        </p:nvSpPr>
        <p:spPr>
          <a:xfrm>
            <a:off x="5340096" y="3300984"/>
            <a:ext cx="1371600" cy="502920"/>
          </a:xfrm>
          <a:prstGeom prst="rect">
            <a:avLst/>
          </a:prstGeom>
          <a:noFill/>
        </p:spPr>
        <p:txBody>
          <a:bodyPr wrap="square" anchor="t" lIns="0" rIns="0" tIns="0" bIns="0">
            <a:spAutoFit/>
          </a:bodyPr>
          <a:lstStyle/>
          <a:p>
            <a:pPr algn="ctr"/>
            <a:r>
              <a:rPr sz="950" b="0" i="0">
                <a:solidFill>
                  <a:srgbClr val="1A1A2E"/>
                </a:solidFill>
                <a:latin typeface="Calibri"/>
              </a:rPr>
              <a:t>Pauli Z, ZZ</a:t>
            </a:r>
          </a:p>
        </p:txBody>
      </p:sp>
      <p:sp>
        <p:nvSpPr>
          <p:cNvPr id="21" name="Right Arrow 20"/>
          <p:cNvSpPr/>
          <p:nvPr/>
        </p:nvSpPr>
        <p:spPr>
          <a:xfrm>
            <a:off x="6771132" y="3127248"/>
            <a:ext cx="109728" cy="146304"/>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894576" y="2514600"/>
            <a:ext cx="1481328" cy="1371600"/>
          </a:xfrm>
          <a:prstGeom prst="roundRect">
            <a:avLst/>
          </a:prstGeom>
          <a:solidFill>
            <a:srgbClr val="F3F4F7"/>
          </a:solidFill>
          <a:ln w="22225">
            <a:solidFill>
              <a:srgbClr val="C896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2642616"/>
            <a:ext cx="1371600" cy="566928"/>
          </a:xfrm>
          <a:prstGeom prst="rect">
            <a:avLst/>
          </a:prstGeom>
          <a:noFill/>
        </p:spPr>
        <p:txBody>
          <a:bodyPr wrap="square" anchor="t" lIns="0" rIns="0" tIns="0" bIns="0">
            <a:spAutoFit/>
          </a:bodyPr>
          <a:lstStyle/>
          <a:p>
            <a:pPr algn="ctr"/>
            <a:r>
              <a:rPr sz="1150" b="1" i="0">
                <a:solidFill>
                  <a:srgbClr val="C8960C"/>
                </a:solidFill>
                <a:latin typeface="Calibri"/>
              </a:rPr>
              <a:t>QAOA</a:t>
            </a:r>
          </a:p>
          <a:p>
            <a:pPr algn="ctr"/>
            <a:r>
              <a:rPr sz="1150" b="1" i="0">
                <a:solidFill>
                  <a:srgbClr val="C8960C"/>
                </a:solidFill>
                <a:latin typeface="Calibri"/>
              </a:rPr>
              <a:t>circuit</a:t>
            </a:r>
          </a:p>
        </p:txBody>
      </p:sp>
      <p:sp>
        <p:nvSpPr>
          <p:cNvPr id="24" name="TextBox 23"/>
          <p:cNvSpPr txBox="1"/>
          <p:nvPr/>
        </p:nvSpPr>
        <p:spPr>
          <a:xfrm>
            <a:off x="6949440" y="3300984"/>
            <a:ext cx="1371600" cy="502920"/>
          </a:xfrm>
          <a:prstGeom prst="rect">
            <a:avLst/>
          </a:prstGeom>
          <a:noFill/>
        </p:spPr>
        <p:txBody>
          <a:bodyPr wrap="square" anchor="t" lIns="0" rIns="0" tIns="0" bIns="0">
            <a:spAutoFit/>
          </a:bodyPr>
          <a:lstStyle/>
          <a:p>
            <a:pPr algn="ctr"/>
            <a:r>
              <a:rPr sz="950" b="0" i="0">
                <a:solidFill>
                  <a:srgbClr val="1A1A2E"/>
                </a:solidFill>
                <a:latin typeface="Calibri"/>
              </a:rPr>
              <a:t>cost + mixer</a:t>
            </a:r>
          </a:p>
        </p:txBody>
      </p:sp>
      <p:sp>
        <p:nvSpPr>
          <p:cNvPr id="25" name="Right Arrow 24"/>
          <p:cNvSpPr/>
          <p:nvPr/>
        </p:nvSpPr>
        <p:spPr>
          <a:xfrm>
            <a:off x="8380476" y="3127248"/>
            <a:ext cx="109728" cy="146304"/>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503920" y="2514600"/>
            <a:ext cx="1481328" cy="1371600"/>
          </a:xfrm>
          <a:prstGeom prst="roundRect">
            <a:avLst/>
          </a:prstGeom>
          <a:solidFill>
            <a:srgbClr val="F3F4F7"/>
          </a:solidFill>
          <a:ln w="22225">
            <a:solidFill>
              <a:srgbClr val="3A4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58784" y="2642616"/>
            <a:ext cx="1371600" cy="566928"/>
          </a:xfrm>
          <a:prstGeom prst="rect">
            <a:avLst/>
          </a:prstGeom>
          <a:noFill/>
        </p:spPr>
        <p:txBody>
          <a:bodyPr wrap="square" anchor="t" lIns="0" rIns="0" tIns="0" bIns="0">
            <a:spAutoFit/>
          </a:bodyPr>
          <a:lstStyle/>
          <a:p>
            <a:pPr algn="ctr"/>
            <a:r>
              <a:rPr sz="1150" b="1" i="0">
                <a:solidFill>
                  <a:srgbClr val="3A429C"/>
                </a:solidFill>
                <a:latin typeface="Calibri"/>
              </a:rPr>
              <a:t>Sample</a:t>
            </a:r>
          </a:p>
        </p:txBody>
      </p:sp>
      <p:sp>
        <p:nvSpPr>
          <p:cNvPr id="28" name="TextBox 27"/>
          <p:cNvSpPr txBox="1"/>
          <p:nvPr/>
        </p:nvSpPr>
        <p:spPr>
          <a:xfrm>
            <a:off x="8558784" y="3300984"/>
            <a:ext cx="1371600" cy="502920"/>
          </a:xfrm>
          <a:prstGeom prst="rect">
            <a:avLst/>
          </a:prstGeom>
          <a:noFill/>
        </p:spPr>
        <p:txBody>
          <a:bodyPr wrap="square" anchor="t" lIns="0" rIns="0" tIns="0" bIns="0">
            <a:spAutoFit/>
          </a:bodyPr>
          <a:lstStyle/>
          <a:p>
            <a:pPr algn="ctr"/>
            <a:r>
              <a:rPr sz="950" b="0" i="0">
                <a:solidFill>
                  <a:srgbClr val="1A1A2E"/>
                </a:solidFill>
                <a:latin typeface="Calibri"/>
              </a:rPr>
              <a:t>shots →</a:t>
            </a:r>
          </a:p>
          <a:p>
            <a:pPr algn="ctr"/>
            <a:r>
              <a:rPr sz="950" b="0" i="0">
                <a:solidFill>
                  <a:srgbClr val="1A1A2E"/>
                </a:solidFill>
                <a:latin typeface="Calibri"/>
              </a:rPr>
              <a:t>bitstrings</a:t>
            </a:r>
          </a:p>
        </p:txBody>
      </p:sp>
      <p:sp>
        <p:nvSpPr>
          <p:cNvPr id="29" name="Right Arrow 28"/>
          <p:cNvSpPr/>
          <p:nvPr/>
        </p:nvSpPr>
        <p:spPr>
          <a:xfrm>
            <a:off x="9989820" y="3127248"/>
            <a:ext cx="109728" cy="146304"/>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13264" y="2514600"/>
            <a:ext cx="1481328" cy="1371600"/>
          </a:xfrm>
          <a:prstGeom prst="roundRect">
            <a:avLst/>
          </a:prstGeom>
          <a:solidFill>
            <a:srgbClr val="F3F4F7"/>
          </a:solidFill>
          <a:ln w="2222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68128" y="2642616"/>
            <a:ext cx="1371600" cy="566928"/>
          </a:xfrm>
          <a:prstGeom prst="rect">
            <a:avLst/>
          </a:prstGeom>
          <a:noFill/>
        </p:spPr>
        <p:txBody>
          <a:bodyPr wrap="square" anchor="t" lIns="0" rIns="0" tIns="0" bIns="0">
            <a:spAutoFit/>
          </a:bodyPr>
          <a:lstStyle/>
          <a:p>
            <a:pPr algn="ctr"/>
            <a:r>
              <a:rPr sz="1150" b="1" i="0">
                <a:solidFill>
                  <a:srgbClr val="1E8449"/>
                </a:solidFill>
                <a:latin typeface="Calibri"/>
              </a:rPr>
              <a:t>Decode</a:t>
            </a:r>
          </a:p>
        </p:txBody>
      </p:sp>
      <p:sp>
        <p:nvSpPr>
          <p:cNvPr id="32" name="TextBox 31"/>
          <p:cNvSpPr txBox="1"/>
          <p:nvPr/>
        </p:nvSpPr>
        <p:spPr>
          <a:xfrm>
            <a:off x="10168128" y="3300984"/>
            <a:ext cx="1371600" cy="502920"/>
          </a:xfrm>
          <a:prstGeom prst="rect">
            <a:avLst/>
          </a:prstGeom>
          <a:noFill/>
        </p:spPr>
        <p:txBody>
          <a:bodyPr wrap="square" anchor="t" lIns="0" rIns="0" tIns="0" bIns="0">
            <a:spAutoFit/>
          </a:bodyPr>
          <a:lstStyle/>
          <a:p>
            <a:pPr algn="ctr"/>
            <a:r>
              <a:rPr sz="950" b="0" i="0">
                <a:solidFill>
                  <a:srgbClr val="1A1A2E"/>
                </a:solidFill>
                <a:latin typeface="Calibri"/>
              </a:rPr>
              <a:t>feasible</a:t>
            </a:r>
          </a:p>
          <a:p>
            <a:pPr algn="ctr"/>
            <a:r>
              <a:rPr sz="950" b="0" i="0">
                <a:solidFill>
                  <a:srgbClr val="1A1A2E"/>
                </a:solidFill>
                <a:latin typeface="Calibri"/>
              </a:rPr>
              <a:t>best</a:t>
            </a:r>
          </a:p>
        </p:txBody>
      </p:sp>
      <p:sp>
        <p:nvSpPr>
          <p:cNvPr id="33" name="Rounded Rectangle 32"/>
          <p:cNvSpPr/>
          <p:nvPr/>
        </p:nvSpPr>
        <p:spPr>
          <a:xfrm>
            <a:off x="502920" y="4297680"/>
            <a:ext cx="11183112" cy="868680"/>
          </a:xfrm>
          <a:prstGeom prst="roundRect">
            <a:avLst/>
          </a:prstGeom>
          <a:solidFill>
            <a:srgbClr val="ECEEF6"/>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4443984"/>
            <a:ext cx="10780776" cy="612647"/>
          </a:xfrm>
          <a:prstGeom prst="rect">
            <a:avLst/>
          </a:prstGeom>
          <a:noFill/>
        </p:spPr>
        <p:txBody>
          <a:bodyPr wrap="square" anchor="ctr" lIns="0" rIns="0" tIns="0" bIns="0">
            <a:spAutoFit/>
          </a:bodyPr>
          <a:lstStyle/>
          <a:p>
            <a:pPr>
              <a:spcAft>
                <a:spcPts val="400"/>
              </a:spcAft>
            </a:pPr>
            <a:r>
              <a:rPr sz="1350" b="0" i="0">
                <a:solidFill>
                  <a:srgbClr val="1A1A2E"/>
                </a:solidFill>
                <a:latin typeface="Calibri"/>
              </a:rPr>
              <a:t>The first four boxes are </a:t>
            </a:r>
            <a:r>
              <a:rPr sz="1350" b="1" i="0">
                <a:solidFill>
                  <a:srgbClr val="11175E"/>
                </a:solidFill>
                <a:latin typeface="Calibri"/>
              </a:rPr>
              <a:t>automatic in Qiskit</a:t>
            </a:r>
            <a:r>
              <a:rPr sz="1350" b="0" i="0">
                <a:solidFill>
                  <a:srgbClr val="1A1A2E"/>
                </a:solidFill>
                <a:latin typeface="Calibri"/>
              </a:rPr>
              <a:t> (a few lines). The interesting quantum work is the QAOA circuit and how we </a:t>
            </a:r>
            <a:r>
              <a:rPr sz="1350" b="1" i="0">
                <a:solidFill>
                  <a:srgbClr val="1F4E6E"/>
                </a:solidFill>
                <a:latin typeface="Calibri"/>
              </a:rPr>
              <a:t>decode noisy samples into a feasible answer</a:t>
            </a:r>
            <a:r>
              <a:rPr sz="1350" b="0" i="0">
                <a:solidFill>
                  <a:srgbClr val="1A1A2E"/>
                </a:solidFill>
                <a:latin typeface="Calibri"/>
              </a:rPr>
              <a:t>.</a:t>
            </a:r>
          </a:p>
        </p:txBody>
      </p:sp>
      <p:sp>
        <p:nvSpPr>
          <p:cNvPr id="35" name="Rounded Rectangle 34"/>
          <p:cNvSpPr/>
          <p:nvPr/>
        </p:nvSpPr>
        <p:spPr>
          <a:xfrm>
            <a:off x="502920" y="5303520"/>
            <a:ext cx="11183112" cy="658368"/>
          </a:xfrm>
          <a:prstGeom prst="roundRect">
            <a:avLst/>
          </a:prstGeom>
          <a:solidFill>
            <a:srgbClr val="FBF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4088" y="5449824"/>
            <a:ext cx="10780776" cy="402335"/>
          </a:xfrm>
          <a:prstGeom prst="rect">
            <a:avLst/>
          </a:prstGeom>
          <a:noFill/>
        </p:spPr>
        <p:txBody>
          <a:bodyPr wrap="square" anchor="ctr" lIns="0" rIns="0" tIns="0" bIns="0">
            <a:spAutoFit/>
          </a:bodyPr>
          <a:lstStyle/>
          <a:p>
            <a:pPr>
              <a:spcAft>
                <a:spcPts val="400"/>
              </a:spcAft>
            </a:pPr>
            <a:r>
              <a:rPr sz="1300" b="1" i="0">
                <a:solidFill>
                  <a:srgbClr val="1F4E6E"/>
                </a:solidFill>
                <a:latin typeface="Calibri"/>
              </a:rPr>
              <a:t>Same pipeline you saw for VQE and TSP — only the circuit in the middle changes.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1 — QUBO and Slack Variables</a:t>
            </a:r>
          </a:p>
          <a:p>
            <a:r>
              <a:rPr sz="1400" b="0" i="1">
                <a:solidFill>
                  <a:srgbClr val="1F4E6E"/>
                </a:solidFill>
                <a:latin typeface="Calibri"/>
              </a:rPr>
              <a:t>Why 6 items become ~10 qubits</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4</a:t>
            </a:r>
          </a:p>
        </p:txBody>
      </p:sp>
      <p:sp>
        <p:nvSpPr>
          <p:cNvPr id="6" name="TextBox 5"/>
          <p:cNvSpPr txBox="1"/>
          <p:nvPr/>
        </p:nvSpPr>
        <p:spPr>
          <a:xfrm>
            <a:off x="502920" y="2331720"/>
            <a:ext cx="6537960" cy="3383280"/>
          </a:xfrm>
          <a:prstGeom prst="rect">
            <a:avLst/>
          </a:prstGeom>
          <a:noFill/>
        </p:spPr>
        <p:txBody>
          <a:bodyPr wrap="square" anchor="t" lIns="0" rIns="0" tIns="0" bIns="0">
            <a:spAutoFit/>
          </a:bodyPr>
          <a:lstStyle/>
          <a:p>
            <a:pPr>
              <a:spcAft>
                <a:spcPts val="1200"/>
              </a:spcAft>
            </a:pPr>
            <a:r>
              <a:rPr sz="1500" b="1" i="0">
                <a:solidFill>
                  <a:srgbClr val="C8960C"/>
                </a:solidFill>
                <a:latin typeface="Calibri"/>
              </a:rPr>
              <a:t>•  </a:t>
            </a:r>
            <a:r>
              <a:rPr sz="1500" b="0" i="0">
                <a:solidFill>
                  <a:srgbClr val="1A1A2E"/>
                </a:solidFill>
                <a:latin typeface="Calibri"/>
              </a:rPr>
              <a:t>A quantum computer wants an </a:t>
            </a:r>
            <a:r>
              <a:rPr sz="1500" b="1" i="0">
                <a:solidFill>
                  <a:srgbClr val="11175E"/>
                </a:solidFill>
                <a:latin typeface="Calibri"/>
              </a:rPr>
              <a:t>unconstrained</a:t>
            </a:r>
            <a:r>
              <a:rPr sz="1500" b="0" i="0">
                <a:solidFill>
                  <a:srgbClr val="1A1A2E"/>
                </a:solidFill>
                <a:latin typeface="Calibri"/>
              </a:rPr>
              <a:t> objective — but 'weight ≤ 14' is a constraint.</a:t>
            </a:r>
          </a:p>
          <a:p>
            <a:pPr>
              <a:spcAft>
                <a:spcPts val="1200"/>
              </a:spcAft>
            </a:pPr>
            <a:r>
              <a:rPr sz="1500" b="1" i="0">
                <a:solidFill>
                  <a:srgbClr val="C8960C"/>
                </a:solidFill>
                <a:latin typeface="Calibri"/>
              </a:rPr>
              <a:t>•  </a:t>
            </a:r>
            <a:r>
              <a:rPr sz="1500" b="0" i="0">
                <a:solidFill>
                  <a:srgbClr val="1A1A2E"/>
                </a:solidFill>
                <a:latin typeface="Calibri"/>
              </a:rPr>
              <a:t>QUBO conversion adds </a:t>
            </a:r>
            <a:r>
              <a:rPr sz="1500" b="1" i="0">
                <a:solidFill>
                  <a:srgbClr val="1F4E6E"/>
                </a:solidFill>
                <a:latin typeface="Calibri"/>
              </a:rPr>
              <a:t>slack variables</a:t>
            </a:r>
            <a:r>
              <a:rPr sz="1500" b="0" i="0">
                <a:solidFill>
                  <a:srgbClr val="1A1A2E"/>
                </a:solidFill>
                <a:latin typeface="Calibri"/>
              </a:rPr>
              <a:t> to turn the ≤ into an equality, folded into the objective as a penalty.</a:t>
            </a:r>
          </a:p>
          <a:p>
            <a:pPr>
              <a:spcAft>
                <a:spcPts val="1200"/>
              </a:spcAft>
            </a:pPr>
            <a:r>
              <a:rPr sz="1500" b="1" i="0">
                <a:solidFill>
                  <a:srgbClr val="C8960C"/>
                </a:solidFill>
                <a:latin typeface="Calibri"/>
              </a:rPr>
              <a:t>•  </a:t>
            </a:r>
            <a:r>
              <a:rPr sz="1500" b="0" i="0">
                <a:solidFill>
                  <a:srgbClr val="1A1A2E"/>
                </a:solidFill>
                <a:latin typeface="Calibri"/>
              </a:rPr>
              <a:t>Result: </a:t>
            </a:r>
            <a:r>
              <a:rPr sz="1500" b="1" i="0">
                <a:solidFill>
                  <a:srgbClr val="11175E"/>
                </a:solidFill>
                <a:latin typeface="Calibri"/>
              </a:rPr>
              <a:t>6 item qubits + ~4 slack qubits ≈ 10 qubits</a:t>
            </a:r>
            <a:r>
              <a:rPr sz="1500" b="0" i="0">
                <a:solidFill>
                  <a:srgbClr val="1A1A2E"/>
                </a:solidFill>
                <a:latin typeface="Calibri"/>
              </a:rPr>
              <a:t>.</a:t>
            </a:r>
          </a:p>
          <a:p>
            <a:pPr>
              <a:spcAft>
                <a:spcPts val="1200"/>
              </a:spcAft>
            </a:pPr>
            <a:r>
              <a:rPr sz="1500" b="1" i="0">
                <a:solidFill>
                  <a:srgbClr val="C8960C"/>
                </a:solidFill>
                <a:latin typeface="Calibri"/>
              </a:rPr>
              <a:t>•  </a:t>
            </a:r>
            <a:r>
              <a:rPr sz="1500" b="0" i="0">
                <a:solidFill>
                  <a:srgbClr val="1A1A2E"/>
                </a:solidFill>
                <a:latin typeface="Calibri"/>
              </a:rPr>
              <a:t>More qubits = </a:t>
            </a:r>
            <a:r>
              <a:rPr sz="1500" b="1" i="0">
                <a:solidFill>
                  <a:srgbClr val="C0392B"/>
                </a:solidFill>
                <a:latin typeface="Calibri"/>
              </a:rPr>
              <a:t>deeper circuits</a:t>
            </a:r>
            <a:r>
              <a:rPr sz="1500" b="0" i="0">
                <a:solidFill>
                  <a:srgbClr val="1A1A2E"/>
                </a:solidFill>
                <a:latin typeface="Calibri"/>
              </a:rPr>
              <a:t> — this is why constraints are 'expensive' on hardware.</a:t>
            </a:r>
          </a:p>
          <a:p>
            <a:pPr>
              <a:spcAft>
                <a:spcPts val="1200"/>
              </a:spcAft>
            </a:pPr>
            <a:r>
              <a:rPr sz="1500" b="1" i="0">
                <a:solidFill>
                  <a:srgbClr val="C8960C"/>
                </a:solidFill>
                <a:latin typeface="Calibri"/>
              </a:rPr>
              <a:t>•  </a:t>
            </a:r>
            <a:r>
              <a:rPr sz="1500" b="0" i="0">
                <a:solidFill>
                  <a:srgbClr val="1A1A2E"/>
                </a:solidFill>
                <a:latin typeface="Calibri"/>
              </a:rPr>
              <a:t>(Part 02 shows a </a:t>
            </a:r>
            <a:r>
              <a:rPr sz="1500" b="1" i="0">
                <a:solidFill>
                  <a:srgbClr val="C8960C"/>
                </a:solidFill>
                <a:latin typeface="Calibri"/>
              </a:rPr>
              <a:t>custom-penalty</a:t>
            </a:r>
            <a:r>
              <a:rPr sz="1500" b="0" i="0">
                <a:solidFill>
                  <a:srgbClr val="1A1A2E"/>
                </a:solidFill>
                <a:latin typeface="Calibri"/>
              </a:rPr>
              <a:t> trick to avoid slack qubits.)</a:t>
            </a:r>
          </a:p>
        </p:txBody>
      </p:sp>
      <p:sp>
        <p:nvSpPr>
          <p:cNvPr id="7" name="Rounded Rectangle 6"/>
          <p:cNvSpPr/>
          <p:nvPr/>
        </p:nvSpPr>
        <p:spPr>
          <a:xfrm>
            <a:off x="7223760" y="2331720"/>
            <a:ext cx="4462272" cy="3063240"/>
          </a:xfrm>
          <a:prstGeom prst="roundRect">
            <a:avLst/>
          </a:prstGeom>
          <a:solidFill>
            <a:srgbClr val="0E123A"/>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4928" y="2459736"/>
            <a:ext cx="4059935" cy="274320"/>
          </a:xfrm>
          <a:prstGeom prst="rect">
            <a:avLst/>
          </a:prstGeom>
          <a:noFill/>
        </p:spPr>
        <p:txBody>
          <a:bodyPr wrap="square" anchor="t" lIns="0" rIns="0" tIns="0" bIns="0">
            <a:spAutoFit/>
          </a:bodyPr>
          <a:lstStyle/>
          <a:p>
            <a:r>
              <a:rPr sz="1100" b="1" i="0">
                <a:solidFill>
                  <a:srgbClr val="C8960C"/>
                </a:solidFill>
                <a:latin typeface="Consolas"/>
              </a:rPr>
              <a:t>the three lines that matter</a:t>
            </a:r>
          </a:p>
        </p:txBody>
      </p:sp>
      <p:sp>
        <p:nvSpPr>
          <p:cNvPr id="9" name="TextBox 8"/>
          <p:cNvSpPr txBox="1"/>
          <p:nvPr/>
        </p:nvSpPr>
        <p:spPr>
          <a:xfrm>
            <a:off x="7424928" y="2788920"/>
            <a:ext cx="4059935" cy="2496312"/>
          </a:xfrm>
          <a:prstGeom prst="rect">
            <a:avLst/>
          </a:prstGeom>
          <a:noFill/>
        </p:spPr>
        <p:txBody>
          <a:bodyPr wrap="square" anchor="t" lIns="0" rIns="0" tIns="0" bIns="0">
            <a:spAutoFit/>
          </a:bodyPr>
          <a:lstStyle/>
          <a:p>
            <a:pPr>
              <a:spcAft>
                <a:spcPts val="200"/>
              </a:spcAft>
            </a:pPr>
            <a:r>
              <a:rPr sz="1050" b="0" i="0">
                <a:solidFill>
                  <a:srgbClr val="E8EAF6"/>
                </a:solidFill>
                <a:latin typeface="Consolas"/>
              </a:rPr>
              <a:t>converter = QuadraticProgramToQubo()</a:t>
            </a:r>
          </a:p>
          <a:p>
            <a:pPr>
              <a:spcAft>
                <a:spcPts val="200"/>
              </a:spcAft>
            </a:pPr>
            <a:r>
              <a:rPr sz="1050" b="0" i="0">
                <a:solidFill>
                  <a:srgbClr val="E8EAF6"/>
                </a:solidFill>
                <a:latin typeface="Consolas"/>
              </a:rPr>
              <a:t>qubo = converter.convert(problem)</a:t>
            </a:r>
          </a:p>
          <a:p>
            <a:pPr>
              <a:spcAft>
                <a:spcPts val="200"/>
              </a:spcAft>
            </a:pPr>
            <a:r>
              <a:rPr sz="1050" b="0" i="0">
                <a:solidFill>
                  <a:srgbClr val="E8EAF6"/>
                </a:solidFill>
                <a:latin typeface="Consolas"/>
              </a:rPr>
              <a:t>qubit_op, offset = qubo.to_ising()</a:t>
            </a:r>
          </a:p>
          <a:p>
            <a:pPr>
              <a:spcAft>
                <a:spcPts val="200"/>
              </a:spcAft>
            </a:pPr>
            <a:r>
              <a:rPr sz="1050" b="0" i="0">
                <a:solidFill>
                  <a:srgbClr val="E8EAF6"/>
                </a:solidFill>
                <a:latin typeface="Consolas"/>
              </a:rPr>
              <a:t> </a:t>
            </a:r>
          </a:p>
          <a:p>
            <a:pPr>
              <a:spcAft>
                <a:spcPts val="200"/>
              </a:spcAft>
            </a:pPr>
            <a:r>
              <a:rPr sz="1050" b="0" i="0">
                <a:solidFill>
                  <a:srgbClr val="9AA0B4"/>
                </a:solidFill>
                <a:latin typeface="Consolas"/>
              </a:rPr>
              <a:t># variables jump from 6 → 10</a:t>
            </a:r>
          </a:p>
          <a:p>
            <a:pPr>
              <a:spcAft>
                <a:spcPts val="200"/>
              </a:spcAft>
            </a:pPr>
            <a:r>
              <a:rPr sz="1050" b="0" i="0">
                <a:solidFill>
                  <a:srgbClr val="9AA0B4"/>
                </a:solidFill>
                <a:latin typeface="Consolas"/>
              </a:rPr>
              <a:t>#   because of slack variables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2 — QAOA in One Picture</a:t>
            </a:r>
          </a:p>
          <a:p>
            <a:r>
              <a:rPr sz="1400" b="0" i="1">
                <a:solidFill>
                  <a:srgbClr val="1F4E6E"/>
                </a:solidFill>
                <a:latin typeface="Calibri"/>
              </a:rPr>
              <a:t>Alternating cost and mixer layers, tuned by a classical optimiser</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5</a:t>
            </a:r>
          </a:p>
        </p:txBody>
      </p:sp>
      <p:sp>
        <p:nvSpPr>
          <p:cNvPr id="6" name="Rounded Rectangle 5"/>
          <p:cNvSpPr/>
          <p:nvPr/>
        </p:nvSpPr>
        <p:spPr>
          <a:xfrm>
            <a:off x="640080" y="2468880"/>
            <a:ext cx="2286000" cy="1463040"/>
          </a:xfrm>
          <a:prstGeom prst="roundRect">
            <a:avLst/>
          </a:prstGeom>
          <a:solidFill>
            <a:srgbClr val="F3F4F7"/>
          </a:solidFill>
          <a:ln w="22225">
            <a:solidFill>
              <a:srgbClr val="1F4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2651760"/>
            <a:ext cx="2103120" cy="1188720"/>
          </a:xfrm>
          <a:prstGeom prst="rect">
            <a:avLst/>
          </a:prstGeom>
          <a:noFill/>
        </p:spPr>
        <p:txBody>
          <a:bodyPr wrap="square" anchor="ctr" lIns="0" rIns="0" tIns="0" bIns="0">
            <a:spAutoFit/>
          </a:bodyPr>
          <a:lstStyle/>
          <a:p>
            <a:pPr algn="ctr"/>
            <a:r>
              <a:rPr sz="1200" b="1" i="0">
                <a:solidFill>
                  <a:srgbClr val="1F4E6E"/>
                </a:solidFill>
                <a:latin typeface="Calibri"/>
              </a:rPr>
              <a:t>|+⟩ⁿ</a:t>
            </a:r>
          </a:p>
          <a:p>
            <a:pPr algn="ctr"/>
            <a:r>
              <a:rPr sz="1100" b="0" i="0">
                <a:solidFill>
                  <a:srgbClr val="1A1A2E"/>
                </a:solidFill>
                <a:latin typeface="Calibri"/>
              </a:rPr>
              <a:t>equal super-</a:t>
            </a:r>
          </a:p>
          <a:p>
            <a:pPr algn="ctr"/>
            <a:r>
              <a:rPr sz="1100" b="0" i="0">
                <a:solidFill>
                  <a:srgbClr val="1A1A2E"/>
                </a:solidFill>
                <a:latin typeface="Calibri"/>
              </a:rPr>
              <a:t>position</a:t>
            </a:r>
          </a:p>
        </p:txBody>
      </p:sp>
      <p:sp>
        <p:nvSpPr>
          <p:cNvPr id="8" name="Right Arrow 7"/>
          <p:cNvSpPr/>
          <p:nvPr/>
        </p:nvSpPr>
        <p:spPr>
          <a:xfrm>
            <a:off x="2971800" y="3118104"/>
            <a:ext cx="365760" cy="164592"/>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83280" y="2468880"/>
            <a:ext cx="2286000" cy="1463040"/>
          </a:xfrm>
          <a:prstGeom prst="roundRect">
            <a:avLst/>
          </a:prstGeom>
          <a:solidFill>
            <a:srgbClr val="FBF3DD"/>
          </a:solidFill>
          <a:ln w="222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2651760"/>
            <a:ext cx="2103120" cy="1188720"/>
          </a:xfrm>
          <a:prstGeom prst="rect">
            <a:avLst/>
          </a:prstGeom>
          <a:noFill/>
        </p:spPr>
        <p:txBody>
          <a:bodyPr wrap="square" anchor="ctr" lIns="0" rIns="0" tIns="0" bIns="0">
            <a:spAutoFit/>
          </a:bodyPr>
          <a:lstStyle/>
          <a:p>
            <a:pPr algn="ctr"/>
            <a:r>
              <a:rPr sz="1200" b="1" i="0">
                <a:solidFill>
                  <a:srgbClr val="C0392B"/>
                </a:solidFill>
                <a:latin typeface="Calibri"/>
              </a:rPr>
              <a:t>COST layer</a:t>
            </a:r>
          </a:p>
          <a:p>
            <a:pPr algn="ctr"/>
            <a:r>
              <a:rPr sz="1100" b="0" i="0">
                <a:solidFill>
                  <a:srgbClr val="1A1A2E"/>
                </a:solidFill>
                <a:latin typeface="Calibri"/>
              </a:rPr>
              <a:t>e^{-iγH}</a:t>
            </a:r>
          </a:p>
        </p:txBody>
      </p:sp>
      <p:sp>
        <p:nvSpPr>
          <p:cNvPr id="11" name="Right Arrow 10"/>
          <p:cNvSpPr/>
          <p:nvPr/>
        </p:nvSpPr>
        <p:spPr>
          <a:xfrm>
            <a:off x="5715000" y="3118104"/>
            <a:ext cx="365760" cy="164592"/>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0" y="2468880"/>
            <a:ext cx="2286000" cy="1463040"/>
          </a:xfrm>
          <a:prstGeom prst="roundRect">
            <a:avLst/>
          </a:prstGeom>
          <a:solidFill>
            <a:srgbClr val="ECEEF6"/>
          </a:solidFill>
          <a:ln w="22225">
            <a:solidFill>
              <a:srgbClr val="3A4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651760"/>
            <a:ext cx="2103120" cy="1188720"/>
          </a:xfrm>
          <a:prstGeom prst="rect">
            <a:avLst/>
          </a:prstGeom>
          <a:noFill/>
        </p:spPr>
        <p:txBody>
          <a:bodyPr wrap="square" anchor="ctr" lIns="0" rIns="0" tIns="0" bIns="0">
            <a:spAutoFit/>
          </a:bodyPr>
          <a:lstStyle/>
          <a:p>
            <a:pPr algn="ctr"/>
            <a:r>
              <a:rPr sz="1200" b="1" i="0">
                <a:solidFill>
                  <a:srgbClr val="3A429C"/>
                </a:solidFill>
                <a:latin typeface="Calibri"/>
              </a:rPr>
              <a:t>MIXER layer</a:t>
            </a:r>
          </a:p>
          <a:p>
            <a:pPr algn="ctr"/>
            <a:r>
              <a:rPr sz="1100" b="0" i="0">
                <a:solidFill>
                  <a:srgbClr val="1A1A2E"/>
                </a:solidFill>
                <a:latin typeface="Calibri"/>
              </a:rPr>
              <a:t>e^{-iβX}</a:t>
            </a:r>
          </a:p>
        </p:txBody>
      </p:sp>
      <p:sp>
        <p:nvSpPr>
          <p:cNvPr id="14" name="Right Arrow 13"/>
          <p:cNvSpPr/>
          <p:nvPr/>
        </p:nvSpPr>
        <p:spPr>
          <a:xfrm>
            <a:off x="8458200" y="3118104"/>
            <a:ext cx="365760" cy="164592"/>
          </a:xfrm>
          <a:prstGeom prst="rightArrow">
            <a:avLst/>
          </a:prstGeom>
          <a:solidFill>
            <a:srgbClr val="C8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869680" y="2468880"/>
            <a:ext cx="2286000" cy="1463040"/>
          </a:xfrm>
          <a:prstGeom prst="roundRect">
            <a:avLst/>
          </a:prstGeom>
          <a:solidFill>
            <a:srgbClr val="EAF4EC"/>
          </a:solidFill>
          <a:ln w="2222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19" y="2651760"/>
            <a:ext cx="2103120" cy="1188720"/>
          </a:xfrm>
          <a:prstGeom prst="rect">
            <a:avLst/>
          </a:prstGeom>
          <a:noFill/>
        </p:spPr>
        <p:txBody>
          <a:bodyPr wrap="square" anchor="ctr" lIns="0" rIns="0" tIns="0" bIns="0">
            <a:spAutoFit/>
          </a:bodyPr>
          <a:lstStyle/>
          <a:p>
            <a:pPr algn="ctr"/>
            <a:r>
              <a:rPr sz="1200" b="1" i="0">
                <a:solidFill>
                  <a:srgbClr val="1E8449"/>
                </a:solidFill>
                <a:latin typeface="Calibri"/>
              </a:rPr>
              <a:t>measure</a:t>
            </a:r>
          </a:p>
          <a:p>
            <a:pPr algn="ctr"/>
            <a:r>
              <a:rPr sz="1100" b="0" i="0">
                <a:solidFill>
                  <a:srgbClr val="1A1A2E"/>
                </a:solidFill>
                <a:latin typeface="Calibri"/>
              </a:rPr>
              <a:t>→ bitstrings</a:t>
            </a:r>
          </a:p>
        </p:txBody>
      </p:sp>
      <p:sp>
        <p:nvSpPr>
          <p:cNvPr id="17" name="TextBox 16"/>
          <p:cNvSpPr txBox="1"/>
          <p:nvPr/>
        </p:nvSpPr>
        <p:spPr>
          <a:xfrm>
            <a:off x="3108960" y="3950208"/>
            <a:ext cx="2560320" cy="274320"/>
          </a:xfrm>
          <a:prstGeom prst="rect">
            <a:avLst/>
          </a:prstGeom>
          <a:noFill/>
        </p:spPr>
        <p:txBody>
          <a:bodyPr wrap="square" anchor="t" lIns="0" rIns="0" tIns="0" bIns="0">
            <a:spAutoFit/>
          </a:bodyPr>
          <a:lstStyle/>
          <a:p>
            <a:pPr algn="ctr"/>
            <a:r>
              <a:rPr sz="1100" b="0" i="1">
                <a:solidFill>
                  <a:srgbClr val="6B6B7B"/>
                </a:solidFill>
                <a:latin typeface="Calibri"/>
              </a:rPr>
              <a:t>repeat ×  reps (=2)</a:t>
            </a:r>
          </a:p>
        </p:txBody>
      </p:sp>
      <p:sp>
        <p:nvSpPr>
          <p:cNvPr id="18" name="Rounded Rectangle 17"/>
          <p:cNvSpPr/>
          <p:nvPr/>
        </p:nvSpPr>
        <p:spPr>
          <a:xfrm>
            <a:off x="640080" y="4343400"/>
            <a:ext cx="11000232" cy="868680"/>
          </a:xfrm>
          <a:prstGeom prst="roundRect">
            <a:avLst/>
          </a:prstGeom>
          <a:solidFill>
            <a:srgbClr val="ECEEF6"/>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4489704"/>
            <a:ext cx="10597896" cy="612647"/>
          </a:xfrm>
          <a:prstGeom prst="rect">
            <a:avLst/>
          </a:prstGeom>
          <a:noFill/>
        </p:spPr>
        <p:txBody>
          <a:bodyPr wrap="square" anchor="ctr" lIns="0" rIns="0" tIns="0" bIns="0">
            <a:spAutoFit/>
          </a:bodyPr>
          <a:lstStyle/>
          <a:p>
            <a:pPr>
              <a:spcAft>
                <a:spcPts val="400"/>
              </a:spcAft>
            </a:pPr>
            <a:r>
              <a:rPr sz="1350" b="0" i="0">
                <a:solidFill>
                  <a:srgbClr val="1A1A2E"/>
                </a:solidFill>
                <a:latin typeface="Calibri"/>
              </a:rPr>
              <a:t>A classical optimiser (COBYLA) tunes the angles </a:t>
            </a:r>
            <a:r>
              <a:rPr sz="1350" b="1" i="0">
                <a:solidFill>
                  <a:srgbClr val="11175E"/>
                </a:solidFill>
                <a:latin typeface="Calibri"/>
              </a:rPr>
              <a:t>γ, β</a:t>
            </a:r>
            <a:r>
              <a:rPr sz="1350" b="0" i="0">
                <a:solidFill>
                  <a:srgbClr val="1A1A2E"/>
                </a:solidFill>
                <a:latin typeface="Calibri"/>
              </a:rPr>
              <a:t> to lower the energy — the same hybrid loop as VQE. Lower energy ⇒ better knapsack solutions.</a:t>
            </a:r>
          </a:p>
        </p:txBody>
      </p:sp>
      <p:sp>
        <p:nvSpPr>
          <p:cNvPr id="20" name="TextBox 19"/>
          <p:cNvSpPr txBox="1"/>
          <p:nvPr/>
        </p:nvSpPr>
        <p:spPr>
          <a:xfrm>
            <a:off x="640080" y="5440680"/>
            <a:ext cx="10972800" cy="548640"/>
          </a:xfrm>
          <a:prstGeom prst="rect">
            <a:avLst/>
          </a:prstGeom>
          <a:noFill/>
        </p:spPr>
        <p:txBody>
          <a:bodyPr wrap="square" anchor="t" lIns="0" rIns="0" tIns="0" bIns="0">
            <a:spAutoFit/>
          </a:bodyPr>
          <a:lstStyle/>
          <a:p>
            <a:pPr>
              <a:spcAft>
                <a:spcPts val="400"/>
              </a:spcAft>
            </a:pPr>
            <a:r>
              <a:rPr sz="1300" b="1" i="0">
                <a:solidFill>
                  <a:srgbClr val="C8960C"/>
                </a:solidFill>
                <a:latin typeface="Calibri"/>
              </a:rPr>
              <a:t>•  </a:t>
            </a:r>
            <a:r>
              <a:rPr sz="1300" b="1" i="0">
                <a:solidFill>
                  <a:srgbClr val="11175E"/>
                </a:solidFill>
                <a:latin typeface="Calibri"/>
              </a:rPr>
              <a:t>reps</a:t>
            </a:r>
            <a:r>
              <a:rPr sz="1300" b="0" i="0">
                <a:solidFill>
                  <a:srgbClr val="1A1A2E"/>
                </a:solidFill>
                <a:latin typeface="Calibri"/>
              </a:rPr>
              <a:t> = how many cost+mixer layers (we use 2). More layers = more expressive but deeper.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2 — Optimise on the Simulator First</a:t>
            </a:r>
          </a:p>
          <a:p>
            <a:r>
              <a:rPr sz="1400" b="0" i="1">
                <a:solidFill>
                  <a:srgbClr val="1F4E6E"/>
                </a:solidFill>
                <a:latin typeface="Calibri"/>
              </a:rPr>
              <a:t>Tune the angles locally; send only the final circuit to the QPU</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6</a:t>
            </a:r>
          </a:p>
        </p:txBody>
      </p:sp>
      <p:pic>
        <p:nvPicPr>
          <p:cNvPr id="6" name="Picture 5" descr="convergence.png"/>
          <p:cNvPicPr>
            <a:picLocks noChangeAspect="1"/>
          </p:cNvPicPr>
          <p:nvPr/>
        </p:nvPicPr>
        <p:blipFill>
          <a:blip r:embed="rId3"/>
          <a:stretch>
            <a:fillRect/>
          </a:stretch>
        </p:blipFill>
        <p:spPr>
          <a:xfrm>
            <a:off x="457200" y="2194560"/>
            <a:ext cx="6766560" cy="3739414"/>
          </a:xfrm>
          <a:prstGeom prst="rect">
            <a:avLst/>
          </a:prstGeom>
        </p:spPr>
      </p:pic>
      <p:sp>
        <p:nvSpPr>
          <p:cNvPr id="7" name="TextBox 6"/>
          <p:cNvSpPr txBox="1"/>
          <p:nvPr/>
        </p:nvSpPr>
        <p:spPr>
          <a:xfrm>
            <a:off x="7452360" y="2331720"/>
            <a:ext cx="4251960" cy="3474720"/>
          </a:xfrm>
          <a:prstGeom prst="rect">
            <a:avLst/>
          </a:prstGeom>
          <a:noFill/>
        </p:spPr>
        <p:txBody>
          <a:bodyPr wrap="square" anchor="t" lIns="0" rIns="0" tIns="0" bIns="0">
            <a:spAutoFit/>
          </a:bodyPr>
          <a:lstStyle/>
          <a:p>
            <a:pPr>
              <a:spcAft>
                <a:spcPts val="1000"/>
              </a:spcAft>
            </a:pPr>
            <a:r>
              <a:rPr sz="1350" b="1" i="0">
                <a:solidFill>
                  <a:srgbClr val="C8960C"/>
                </a:solidFill>
                <a:latin typeface="Calibri"/>
              </a:rPr>
              <a:t>•  </a:t>
            </a:r>
            <a:r>
              <a:rPr sz="1350" b="0" i="0">
                <a:solidFill>
                  <a:srgbClr val="1A1A2E"/>
                </a:solidFill>
                <a:latin typeface="Calibri"/>
              </a:rPr>
              <a:t>Parameter search needs </a:t>
            </a:r>
            <a:r>
              <a:rPr sz="1350" b="1" i="0">
                <a:solidFill>
                  <a:srgbClr val="C0392B"/>
                </a:solidFill>
                <a:latin typeface="Calibri"/>
              </a:rPr>
              <a:t>many circuit evaluations</a:t>
            </a:r>
            <a:r>
              <a:rPr sz="1350" b="0" i="0">
                <a:solidFill>
                  <a:srgbClr val="1A1A2E"/>
                </a:solidFill>
                <a:latin typeface="Calibri"/>
              </a:rPr>
              <a:t> — far too slow and costly on hardware.</a:t>
            </a:r>
          </a:p>
          <a:p>
            <a:pPr>
              <a:spcAft>
                <a:spcPts val="1000"/>
              </a:spcAft>
            </a:pPr>
            <a:r>
              <a:rPr sz="1350" b="1" i="0">
                <a:solidFill>
                  <a:srgbClr val="C8960C"/>
                </a:solidFill>
                <a:latin typeface="Calibri"/>
              </a:rPr>
              <a:t>•  </a:t>
            </a:r>
            <a:r>
              <a:rPr sz="1350" b="0" i="0">
                <a:solidFill>
                  <a:srgbClr val="1A1A2E"/>
                </a:solidFill>
                <a:latin typeface="Calibri"/>
              </a:rPr>
              <a:t>So we optimise </a:t>
            </a:r>
            <a:r>
              <a:rPr sz="1350" b="1" i="0">
                <a:solidFill>
                  <a:srgbClr val="11175E"/>
                </a:solidFill>
                <a:latin typeface="Calibri"/>
              </a:rPr>
              <a:t>locally on Aer</a:t>
            </a:r>
            <a:r>
              <a:rPr sz="1350" b="0" i="0">
                <a:solidFill>
                  <a:srgbClr val="1A1A2E"/>
                </a:solidFill>
                <a:latin typeface="Calibri"/>
              </a:rPr>
              <a:t> (your laptop).</a:t>
            </a:r>
          </a:p>
          <a:p>
            <a:pPr>
              <a:spcAft>
                <a:spcPts val="1000"/>
              </a:spcAft>
            </a:pPr>
            <a:r>
              <a:rPr sz="1350" b="1" i="0">
                <a:solidFill>
                  <a:srgbClr val="C8960C"/>
                </a:solidFill>
                <a:latin typeface="Calibri"/>
              </a:rPr>
              <a:t>•  </a:t>
            </a:r>
            <a:r>
              <a:rPr sz="1350" b="0" i="0">
                <a:solidFill>
                  <a:srgbClr val="1A1A2E"/>
                </a:solidFill>
                <a:latin typeface="Calibri"/>
              </a:rPr>
              <a:t>Watch the energy </a:t>
            </a:r>
            <a:r>
              <a:rPr sz="1350" b="1" i="0">
                <a:solidFill>
                  <a:srgbClr val="1E8449"/>
                </a:solidFill>
                <a:latin typeface="Calibri"/>
              </a:rPr>
              <a:t>fall then flatten</a:t>
            </a:r>
            <a:r>
              <a:rPr sz="1350" b="0" i="0">
                <a:solidFill>
                  <a:srgbClr val="1A1A2E"/>
                </a:solidFill>
                <a:latin typeface="Calibri"/>
              </a:rPr>
              <a:t> — that's convergence.</a:t>
            </a:r>
          </a:p>
          <a:p>
            <a:pPr>
              <a:spcAft>
                <a:spcPts val="1000"/>
              </a:spcAft>
            </a:pPr>
            <a:r>
              <a:rPr sz="1350" b="1" i="0">
                <a:solidFill>
                  <a:srgbClr val="C8960C"/>
                </a:solidFill>
                <a:latin typeface="Calibri"/>
              </a:rPr>
              <a:t>•  </a:t>
            </a:r>
            <a:r>
              <a:rPr sz="1350" b="0" i="0">
                <a:solidFill>
                  <a:srgbClr val="1A1A2E"/>
                </a:solidFill>
                <a:latin typeface="Calibri"/>
              </a:rPr>
              <a:t>Only the </a:t>
            </a:r>
            <a:r>
              <a:rPr sz="1350" b="1" i="0">
                <a:solidFill>
                  <a:srgbClr val="1F4E6E"/>
                </a:solidFill>
                <a:latin typeface="Calibri"/>
              </a:rPr>
              <a:t>single final circuit</a:t>
            </a:r>
            <a:r>
              <a:rPr sz="1350" b="0" i="0">
                <a:solidFill>
                  <a:srgbClr val="1A1A2E"/>
                </a:solidFill>
                <a:latin typeface="Calibri"/>
              </a:rPr>
              <a:t> goes to the QPU.</a:t>
            </a:r>
          </a:p>
          <a:p>
            <a:pPr>
              <a:spcAft>
                <a:spcPts val="1000"/>
              </a:spcAft>
            </a:pPr>
            <a:r>
              <a:rPr sz="1350" b="1" i="0">
                <a:solidFill>
                  <a:srgbClr val="C8960C"/>
                </a:solidFill>
                <a:latin typeface="Calibri"/>
              </a:rPr>
              <a:t>•  </a:t>
            </a:r>
            <a:r>
              <a:rPr sz="1350" b="0" i="0">
                <a:solidFill>
                  <a:srgbClr val="1A1A2E"/>
                </a:solidFill>
                <a:latin typeface="Calibri"/>
              </a:rPr>
              <a:t>This keeps the live demo </a:t>
            </a:r>
            <a:r>
              <a:rPr sz="1350" b="1" i="0">
                <a:solidFill>
                  <a:srgbClr val="C8960C"/>
                </a:solidFill>
                <a:latin typeface="Calibri"/>
              </a:rPr>
              <a:t>short and predictable</a:t>
            </a:r>
            <a:r>
              <a:rPr sz="1350" b="0" i="0">
                <a:solidFill>
                  <a:srgbClr val="1A1A2E"/>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3 — Accessing IBM Quantum</a:t>
            </a:r>
          </a:p>
          <a:p>
            <a:r>
              <a:rPr sz="1400" b="0" i="1">
                <a:solidFill>
                  <a:srgbClr val="1F4E6E"/>
                </a:solidFill>
                <a:latin typeface="Calibri"/>
              </a:rPr>
              <a:t>Your token lives in .env — never in the notebook</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7</a:t>
            </a:r>
          </a:p>
        </p:txBody>
      </p:sp>
      <p:sp>
        <p:nvSpPr>
          <p:cNvPr id="6" name="Rounded Rectangle 5"/>
          <p:cNvSpPr/>
          <p:nvPr/>
        </p:nvSpPr>
        <p:spPr>
          <a:xfrm>
            <a:off x="502920" y="2286000"/>
            <a:ext cx="6675120" cy="3383280"/>
          </a:xfrm>
          <a:prstGeom prst="roundRect">
            <a:avLst/>
          </a:prstGeom>
          <a:solidFill>
            <a:srgbClr val="0E123A"/>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414016"/>
            <a:ext cx="6272783" cy="274320"/>
          </a:xfrm>
          <a:prstGeom prst="rect">
            <a:avLst/>
          </a:prstGeom>
          <a:noFill/>
        </p:spPr>
        <p:txBody>
          <a:bodyPr wrap="square" anchor="t" lIns="0" rIns="0" tIns="0" bIns="0">
            <a:spAutoFit/>
          </a:bodyPr>
          <a:lstStyle/>
          <a:p>
            <a:r>
              <a:rPr sz="1100" b="1" i="0">
                <a:solidFill>
                  <a:srgbClr val="C8960C"/>
                </a:solidFill>
                <a:latin typeface="Consolas"/>
              </a:rPr>
              <a:t>credentials &amp; connection</a:t>
            </a:r>
          </a:p>
        </p:txBody>
      </p:sp>
      <p:sp>
        <p:nvSpPr>
          <p:cNvPr id="8" name="TextBox 7"/>
          <p:cNvSpPr txBox="1"/>
          <p:nvPr/>
        </p:nvSpPr>
        <p:spPr>
          <a:xfrm>
            <a:off x="704088" y="2743200"/>
            <a:ext cx="6272783" cy="2816352"/>
          </a:xfrm>
          <a:prstGeom prst="rect">
            <a:avLst/>
          </a:prstGeom>
          <a:noFill/>
        </p:spPr>
        <p:txBody>
          <a:bodyPr wrap="square" anchor="t" lIns="0" rIns="0" tIns="0" bIns="0">
            <a:spAutoFit/>
          </a:bodyPr>
          <a:lstStyle/>
          <a:p>
            <a:pPr>
              <a:spcAft>
                <a:spcPts val="200"/>
              </a:spcAft>
            </a:pPr>
            <a:r>
              <a:rPr sz="1050" b="0" i="0">
                <a:solidFill>
                  <a:srgbClr val="9AA0B4"/>
                </a:solidFill>
                <a:latin typeface="Consolas"/>
              </a:rPr>
              <a:t># .env  (never committed — in .gitignore)</a:t>
            </a:r>
          </a:p>
          <a:p>
            <a:pPr>
              <a:spcAft>
                <a:spcPts val="200"/>
              </a:spcAft>
            </a:pPr>
            <a:r>
              <a:rPr sz="1050" b="0" i="0">
                <a:solidFill>
                  <a:srgbClr val="E8EAF6"/>
                </a:solidFill>
                <a:latin typeface="Consolas"/>
              </a:rPr>
              <a:t>IBM_QUANTUM_TOKEN = ...</a:t>
            </a:r>
          </a:p>
          <a:p>
            <a:pPr>
              <a:spcAft>
                <a:spcPts val="200"/>
              </a:spcAft>
            </a:pPr>
            <a:r>
              <a:rPr sz="1050" b="0" i="0">
                <a:solidFill>
                  <a:srgbClr val="E8EAF6"/>
                </a:solidFill>
                <a:latin typeface="Consolas"/>
              </a:rPr>
              <a:t>IBM_QUANTUM_INSTANCE = ...</a:t>
            </a:r>
          </a:p>
          <a:p>
            <a:pPr>
              <a:spcAft>
                <a:spcPts val="200"/>
              </a:spcAft>
            </a:pPr>
            <a:r>
              <a:rPr sz="1050" b="0" i="0">
                <a:solidFill>
                  <a:srgbClr val="E8EAF6"/>
                </a:solidFill>
                <a:latin typeface="Consolas"/>
              </a:rPr>
              <a:t> </a:t>
            </a:r>
          </a:p>
          <a:p>
            <a:pPr>
              <a:spcAft>
                <a:spcPts val="200"/>
              </a:spcAft>
            </a:pPr>
            <a:r>
              <a:rPr sz="1050" b="0" i="0">
                <a:solidFill>
                  <a:srgbClr val="E8EAF6"/>
                </a:solidFill>
                <a:latin typeface="Consolas"/>
              </a:rPr>
              <a:t>from dotenv import load_dotenv</a:t>
            </a:r>
          </a:p>
          <a:p>
            <a:pPr>
              <a:spcAft>
                <a:spcPts val="200"/>
              </a:spcAft>
            </a:pPr>
            <a:r>
              <a:rPr sz="1050" b="0" i="0">
                <a:solidFill>
                  <a:srgbClr val="E8EAF6"/>
                </a:solidFill>
                <a:latin typeface="Consolas"/>
              </a:rPr>
              <a:t>load_dotenv(repo_root / '.env')</a:t>
            </a:r>
          </a:p>
          <a:p>
            <a:pPr>
              <a:spcAft>
                <a:spcPts val="200"/>
              </a:spcAft>
            </a:pPr>
            <a:r>
              <a:rPr sz="1050" b="0" i="0">
                <a:solidFill>
                  <a:srgbClr val="E8EAF6"/>
                </a:solidFill>
                <a:latin typeface="Consolas"/>
              </a:rPr>
              <a:t> </a:t>
            </a:r>
          </a:p>
          <a:p>
            <a:pPr>
              <a:spcAft>
                <a:spcPts val="200"/>
              </a:spcAft>
            </a:pPr>
            <a:r>
              <a:rPr sz="1050" b="0" i="0">
                <a:solidFill>
                  <a:srgbClr val="E8EAF6"/>
                </a:solidFill>
                <a:latin typeface="Consolas"/>
              </a:rPr>
              <a:t>service = QiskitRuntimeService(</a:t>
            </a:r>
          </a:p>
          <a:p>
            <a:pPr>
              <a:spcAft>
                <a:spcPts val="200"/>
              </a:spcAft>
            </a:pPr>
            <a:r>
              <a:rPr sz="1050" b="0" i="0">
                <a:solidFill>
                  <a:srgbClr val="E8EAF6"/>
                </a:solidFill>
                <a:latin typeface="Consolas"/>
              </a:rPr>
              <a:t>    channel='ibm_quantum_platform',</a:t>
            </a:r>
          </a:p>
          <a:p>
            <a:pPr>
              <a:spcAft>
                <a:spcPts val="200"/>
              </a:spcAft>
            </a:pPr>
            <a:r>
              <a:rPr sz="1050" b="0" i="0">
                <a:solidFill>
                  <a:srgbClr val="E8EAF6"/>
                </a:solidFill>
                <a:latin typeface="Consolas"/>
              </a:rPr>
              <a:t>    token=token, instance=instance)</a:t>
            </a:r>
          </a:p>
        </p:txBody>
      </p:sp>
      <p:sp>
        <p:nvSpPr>
          <p:cNvPr id="9" name="TextBox 8"/>
          <p:cNvSpPr txBox="1"/>
          <p:nvPr/>
        </p:nvSpPr>
        <p:spPr>
          <a:xfrm>
            <a:off x="7406640" y="2331720"/>
            <a:ext cx="4297680" cy="3383280"/>
          </a:xfrm>
          <a:prstGeom prst="rect">
            <a:avLst/>
          </a:prstGeom>
          <a:noFill/>
        </p:spPr>
        <p:txBody>
          <a:bodyPr wrap="square" anchor="t" lIns="0" rIns="0" tIns="0" bIns="0">
            <a:spAutoFit/>
          </a:bodyPr>
          <a:lstStyle/>
          <a:p>
            <a:pPr>
              <a:spcAft>
                <a:spcPts val="1000"/>
              </a:spcAft>
            </a:pPr>
            <a:r>
              <a:rPr sz="1300" b="1" i="0">
                <a:solidFill>
                  <a:srgbClr val="C8960C"/>
                </a:solidFill>
                <a:latin typeface="Calibri"/>
              </a:rPr>
              <a:t>•  </a:t>
            </a:r>
            <a:r>
              <a:rPr sz="1300" b="0" i="0">
                <a:solidFill>
                  <a:srgbClr val="1A1A2E"/>
                </a:solidFill>
                <a:latin typeface="Calibri"/>
              </a:rPr>
              <a:t>Get a free token from </a:t>
            </a:r>
            <a:r>
              <a:rPr sz="1300" b="1" i="0">
                <a:solidFill>
                  <a:srgbClr val="11175E"/>
                </a:solidFill>
                <a:latin typeface="Calibri"/>
              </a:rPr>
              <a:t>quantum.ibm.com</a:t>
            </a:r>
            <a:r>
              <a:rPr sz="1300" b="0" i="0">
                <a:solidFill>
                  <a:srgbClr val="1A1A2E"/>
                </a:solidFill>
                <a:latin typeface="Calibri"/>
              </a:rPr>
              <a:t>.</a:t>
            </a:r>
          </a:p>
          <a:p>
            <a:pPr>
              <a:spcAft>
                <a:spcPts val="1000"/>
              </a:spcAft>
            </a:pPr>
            <a:r>
              <a:rPr sz="1300" b="1" i="0">
                <a:solidFill>
                  <a:srgbClr val="C8960C"/>
                </a:solidFill>
                <a:latin typeface="Calibri"/>
              </a:rPr>
              <a:t>•  </a:t>
            </a:r>
            <a:r>
              <a:rPr sz="1300" b="0" i="0">
                <a:solidFill>
                  <a:srgbClr val="1A1A2E"/>
                </a:solidFill>
                <a:latin typeface="Calibri"/>
              </a:rPr>
              <a:t>Store it in </a:t>
            </a:r>
            <a:r>
              <a:rPr sz="1300" b="1" i="0">
                <a:solidFill>
                  <a:srgbClr val="1F4E6E"/>
                </a:solidFill>
                <a:latin typeface="Calibri"/>
              </a:rPr>
              <a:t>.env</a:t>
            </a:r>
            <a:r>
              <a:rPr sz="1300" b="0" i="0">
                <a:solidFill>
                  <a:srgbClr val="1A1A2E"/>
                </a:solidFill>
                <a:latin typeface="Calibri"/>
              </a:rPr>
              <a:t> — the repo's </a:t>
            </a:r>
            <a:r>
              <a:rPr sz="1300" b="1" i="0">
                <a:solidFill>
                  <a:srgbClr val="1F4E6E"/>
                </a:solidFill>
                <a:latin typeface="Calibri"/>
              </a:rPr>
              <a:t>.gitignore</a:t>
            </a:r>
            <a:r>
              <a:rPr sz="1300" b="0" i="0">
                <a:solidFill>
                  <a:srgbClr val="1A1A2E"/>
                </a:solidFill>
                <a:latin typeface="Calibri"/>
              </a:rPr>
              <a:t> keeps it private.</a:t>
            </a:r>
          </a:p>
          <a:p>
            <a:pPr>
              <a:spcAft>
                <a:spcPts val="1000"/>
              </a:spcAft>
            </a:pPr>
            <a:r>
              <a:rPr sz="1300" b="1" i="0">
                <a:solidFill>
                  <a:srgbClr val="C8960C"/>
                </a:solidFill>
                <a:latin typeface="Calibri"/>
              </a:rPr>
              <a:t>•  </a:t>
            </a:r>
            <a:r>
              <a:rPr sz="1300" b="1" i="0">
                <a:solidFill>
                  <a:srgbClr val="11175E"/>
                </a:solidFill>
                <a:latin typeface="Calibri"/>
              </a:rPr>
              <a:t>QiskitRuntimeService</a:t>
            </a:r>
            <a:r>
              <a:rPr sz="1300" b="0" i="0">
                <a:solidFill>
                  <a:srgbClr val="1A1A2E"/>
                </a:solidFill>
                <a:latin typeface="Calibri"/>
              </a:rPr>
              <a:t> is your handle to all backends and jobs.</a:t>
            </a:r>
          </a:p>
          <a:p>
            <a:pPr>
              <a:spcAft>
                <a:spcPts val="1000"/>
              </a:spcAft>
            </a:pPr>
            <a:r>
              <a:rPr sz="1300" b="1" i="0">
                <a:solidFill>
                  <a:srgbClr val="C8960C"/>
                </a:solidFill>
                <a:latin typeface="Calibri"/>
              </a:rPr>
              <a:t>•  </a:t>
            </a:r>
            <a:r>
              <a:rPr sz="1300" b="0" i="0">
                <a:solidFill>
                  <a:srgbClr val="1A1A2E"/>
                </a:solidFill>
                <a:latin typeface="Calibri"/>
              </a:rPr>
              <a:t>An </a:t>
            </a:r>
            <a:r>
              <a:rPr sz="1300" b="1" i="0">
                <a:solidFill>
                  <a:srgbClr val="1F4E6E"/>
                </a:solidFill>
                <a:latin typeface="Calibri"/>
              </a:rPr>
              <a:t>instance</a:t>
            </a:r>
            <a:r>
              <a:rPr sz="1300" b="0" i="0">
                <a:solidFill>
                  <a:srgbClr val="1A1A2E"/>
                </a:solidFill>
                <a:latin typeface="Calibri"/>
              </a:rPr>
              <a:t> ties usage to your plan / allocation.</a:t>
            </a:r>
          </a:p>
          <a:p>
            <a:pPr>
              <a:spcAft>
                <a:spcPts val="1000"/>
              </a:spcAft>
            </a:pPr>
            <a:r>
              <a:rPr sz="1300" b="1" i="0">
                <a:solidFill>
                  <a:srgbClr val="C8960C"/>
                </a:solidFill>
                <a:latin typeface="Calibri"/>
              </a:rPr>
              <a:t>•  </a:t>
            </a:r>
            <a:r>
              <a:rPr sz="1300" b="0" i="0">
                <a:solidFill>
                  <a:srgbClr val="1A1A2E"/>
                </a:solidFill>
                <a:latin typeface="Calibri"/>
              </a:rPr>
              <a:t>The notebook confirms the token loaded — </a:t>
            </a:r>
            <a:r>
              <a:rPr sz="1300" b="1" i="0">
                <a:solidFill>
                  <a:srgbClr val="C0392B"/>
                </a:solidFill>
                <a:latin typeface="Calibri"/>
              </a:rPr>
              <a:t>without printing it</a:t>
            </a:r>
            <a:r>
              <a:rPr sz="1300" b="0" i="0">
                <a:solidFill>
                  <a:srgbClr val="1A1A2E"/>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3 — Pick a Backend &amp; Pre-Flight Checks</a:t>
            </a:r>
          </a:p>
          <a:p>
            <a:r>
              <a:rPr sz="1400" b="0" i="1">
                <a:solidFill>
                  <a:srgbClr val="1F4E6E"/>
                </a:solidFill>
                <a:latin typeface="Calibri"/>
              </a:rPr>
              <a:t>Be a good citizen of a shared, queued resource</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8</a:t>
            </a:r>
          </a:p>
        </p:txBody>
      </p:sp>
      <p:sp>
        <p:nvSpPr>
          <p:cNvPr id="6" name="Rounded Rectangle 5"/>
          <p:cNvSpPr/>
          <p:nvPr/>
        </p:nvSpPr>
        <p:spPr>
          <a:xfrm>
            <a:off x="502920" y="2331720"/>
            <a:ext cx="5532120" cy="3566160"/>
          </a:xfrm>
          <a:prstGeom prst="roundRect">
            <a:avLst/>
          </a:prstGeom>
          <a:solidFill>
            <a:srgbClr val="ECEEF6"/>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478024"/>
            <a:ext cx="5129783" cy="457200"/>
          </a:xfrm>
          <a:prstGeom prst="rect">
            <a:avLst/>
          </a:prstGeom>
          <a:noFill/>
        </p:spPr>
        <p:txBody>
          <a:bodyPr wrap="square" anchor="t" lIns="0" rIns="0" tIns="0" bIns="0">
            <a:spAutoFit/>
          </a:bodyPr>
          <a:lstStyle/>
          <a:p>
            <a:r>
              <a:rPr sz="1400" b="1" i="0">
                <a:solidFill>
                  <a:srgbClr val="11175E"/>
                </a:solidFill>
                <a:latin typeface="Calibri"/>
              </a:rPr>
              <a:t>Choosing a backend</a:t>
            </a:r>
          </a:p>
        </p:txBody>
      </p:sp>
      <p:sp>
        <p:nvSpPr>
          <p:cNvPr id="8" name="TextBox 7"/>
          <p:cNvSpPr txBox="1"/>
          <p:nvPr/>
        </p:nvSpPr>
        <p:spPr>
          <a:xfrm>
            <a:off x="704088" y="2898648"/>
            <a:ext cx="5129783" cy="2889503"/>
          </a:xfrm>
          <a:prstGeom prst="rect">
            <a:avLst/>
          </a:prstGeom>
          <a:noFill/>
        </p:spPr>
        <p:txBody>
          <a:bodyPr wrap="square" anchor="ctr" lIns="0" rIns="0" tIns="0" bIns="0">
            <a:spAutoFit/>
          </a:bodyPr>
          <a:lstStyle/>
          <a:p>
            <a:pPr>
              <a:spcAft>
                <a:spcPts val="400"/>
              </a:spcAft>
            </a:pPr>
            <a:r>
              <a:rPr sz="1250" b="1" i="0">
                <a:solidFill>
                  <a:srgbClr val="11175E"/>
                </a:solidFill>
                <a:latin typeface="Calibri"/>
              </a:rPr>
              <a:t>service.least_busy(</a:t>
            </a:r>
          </a:p>
          <a:p>
            <a:pPr>
              <a:spcAft>
                <a:spcPts val="400"/>
              </a:spcAft>
            </a:pPr>
            <a:r>
              <a:rPr sz="1250" b="0" i="0">
                <a:solidFill>
                  <a:srgbClr val="1F4E6E"/>
                </a:solidFill>
                <a:latin typeface="Calibri"/>
              </a:rPr>
              <a:t>   operational=True, simulator=False,</a:t>
            </a:r>
          </a:p>
          <a:p>
            <a:pPr>
              <a:spcAft>
                <a:spcPts val="400"/>
              </a:spcAft>
            </a:pPr>
            <a:r>
              <a:rPr sz="1250" b="0" i="0">
                <a:solidFill>
                  <a:srgbClr val="1F4E6E"/>
                </a:solidFill>
                <a:latin typeface="Calibri"/>
              </a:rPr>
              <a:t>   min_num_qubits=...)</a:t>
            </a:r>
          </a:p>
          <a:p>
            <a:pPr>
              <a:spcAft>
                <a:spcPts val="400"/>
              </a:spcAft>
            </a:pPr>
            <a:r>
              <a:rPr sz="1250" b="0" i="0">
                <a:solidFill>
                  <a:srgbClr val="1A1A2E"/>
                </a:solidFill>
                <a:latin typeface="Calibri"/>
              </a:rPr>
              <a:t>→ picks a real device with enough qubits and the shortest queue.</a:t>
            </a:r>
          </a:p>
          <a:p>
            <a:pPr>
              <a:spcAft>
                <a:spcPts val="400"/>
              </a:spcAft>
            </a:pPr>
            <a:r>
              <a:rPr sz="1250" b="0" i="0">
                <a:solidFill>
                  <a:srgbClr val="1A1A2E"/>
                </a:solidFill>
                <a:latin typeface="Calibri"/>
              </a:rPr>
              <a:t>Or name one explicitly via </a:t>
            </a:r>
            <a:r>
              <a:rPr sz="1250" b="1" i="0">
                <a:solidFill>
                  <a:srgbClr val="C8960C"/>
                </a:solidFill>
                <a:latin typeface="Calibri"/>
              </a:rPr>
              <a:t>IBM_BACKEND</a:t>
            </a:r>
            <a:r>
              <a:rPr sz="1250" b="0" i="0">
                <a:solidFill>
                  <a:srgbClr val="1A1A2E"/>
                </a:solidFill>
                <a:latin typeface="Calibri"/>
              </a:rPr>
              <a:t>.</a:t>
            </a:r>
          </a:p>
        </p:txBody>
      </p:sp>
      <p:sp>
        <p:nvSpPr>
          <p:cNvPr id="9" name="Rounded Rectangle 8"/>
          <p:cNvSpPr/>
          <p:nvPr/>
        </p:nvSpPr>
        <p:spPr>
          <a:xfrm>
            <a:off x="6199632" y="2331720"/>
            <a:ext cx="5486400" cy="3566160"/>
          </a:xfrm>
          <a:prstGeom prst="roundRect">
            <a:avLst/>
          </a:prstGeom>
          <a:solidFill>
            <a:srgbClr val="FBF3DD"/>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478024"/>
            <a:ext cx="5084064" cy="457200"/>
          </a:xfrm>
          <a:prstGeom prst="rect">
            <a:avLst/>
          </a:prstGeom>
          <a:noFill/>
        </p:spPr>
        <p:txBody>
          <a:bodyPr wrap="square" anchor="t" lIns="0" rIns="0" tIns="0" bIns="0">
            <a:spAutoFit/>
          </a:bodyPr>
          <a:lstStyle/>
          <a:p>
            <a:r>
              <a:rPr sz="1400" b="1" i="0">
                <a:solidFill>
                  <a:srgbClr val="1F4E6E"/>
                </a:solidFill>
                <a:latin typeface="Calibri"/>
              </a:rPr>
              <a:t>Pre-flight checks (before you submit)</a:t>
            </a:r>
          </a:p>
        </p:txBody>
      </p:sp>
      <p:sp>
        <p:nvSpPr>
          <p:cNvPr id="11" name="TextBox 10"/>
          <p:cNvSpPr txBox="1"/>
          <p:nvPr/>
        </p:nvSpPr>
        <p:spPr>
          <a:xfrm>
            <a:off x="6400800" y="2898648"/>
            <a:ext cx="5084064" cy="2889503"/>
          </a:xfrm>
          <a:prstGeom prst="rect">
            <a:avLst/>
          </a:prstGeom>
          <a:noFill/>
        </p:spPr>
        <p:txBody>
          <a:bodyPr wrap="square" anchor="ctr" lIns="0" rIns="0" tIns="0" bIns="0">
            <a:spAutoFit/>
          </a:bodyPr>
          <a:lstStyle/>
          <a:p>
            <a:pPr>
              <a:spcAft>
                <a:spcPts val="400"/>
              </a:spcAft>
            </a:pPr>
            <a:r>
              <a:rPr sz="1250" b="1" i="0">
                <a:solidFill>
                  <a:srgbClr val="11175E"/>
                </a:solidFill>
                <a:latin typeface="Calibri"/>
              </a:rPr>
              <a:t>Runtime capacity</a:t>
            </a:r>
            <a:r>
              <a:rPr sz="1250" b="0" i="0">
                <a:solidFill>
                  <a:srgbClr val="1A1A2E"/>
                </a:solidFill>
                <a:latin typeface="Calibri"/>
              </a:rPr>
              <a:t> — do you have seconds left?</a:t>
            </a:r>
          </a:p>
          <a:p>
            <a:pPr>
              <a:spcAft>
                <a:spcPts val="400"/>
              </a:spcAft>
            </a:pPr>
            <a:r>
              <a:rPr sz="1250" b="1" i="0">
                <a:solidFill>
                  <a:srgbClr val="11175E"/>
                </a:solidFill>
                <a:latin typeface="Calibri"/>
              </a:rPr>
              <a:t>Reachable QPUs</a:t>
            </a:r>
            <a:r>
              <a:rPr sz="1250" b="0" i="0">
                <a:solidFill>
                  <a:srgbClr val="1A1A2E"/>
                </a:solidFill>
                <a:latin typeface="Calibri"/>
              </a:rPr>
              <a:t> with enough qubits?</a:t>
            </a:r>
          </a:p>
          <a:p>
            <a:pPr>
              <a:spcAft>
                <a:spcPts val="400"/>
              </a:spcAft>
            </a:pPr>
            <a:r>
              <a:rPr sz="1250" b="1" i="0">
                <a:solidFill>
                  <a:srgbClr val="11175E"/>
                </a:solidFill>
                <a:latin typeface="Calibri"/>
              </a:rPr>
              <a:t>Backend operational</a:t>
            </a:r>
            <a:r>
              <a:rPr sz="1250" b="0" i="0">
                <a:solidFill>
                  <a:srgbClr val="1A1A2E"/>
                </a:solidFill>
                <a:latin typeface="Calibri"/>
              </a:rPr>
              <a:t> &amp; pending-job count?</a:t>
            </a:r>
          </a:p>
          <a:p>
            <a:pPr>
              <a:spcAft>
                <a:spcPts val="400"/>
              </a:spcAft>
            </a:pPr>
            <a:r>
              <a:rPr sz="1250" b="1" i="0">
                <a:solidFill>
                  <a:srgbClr val="11175E"/>
                </a:solidFill>
                <a:latin typeface="Calibri"/>
              </a:rPr>
              <a:t>Least-busy</a:t>
            </a:r>
            <a:r>
              <a:rPr sz="1250" b="0" i="0">
                <a:solidFill>
                  <a:srgbClr val="1A1A2E"/>
                </a:solidFill>
                <a:latin typeface="Calibri"/>
              </a:rPr>
              <a:t> device right now?</a:t>
            </a:r>
          </a:p>
          <a:p>
            <a:pPr>
              <a:spcAft>
                <a:spcPts val="400"/>
              </a:spcAft>
            </a:pPr>
            <a:r>
              <a:rPr sz="1250" b="0" i="0">
                <a:solidFill>
                  <a:srgbClr val="1A1A2E"/>
                </a:solidFill>
                <a:latin typeface="Calibri"/>
              </a:rPr>
              <a:t>These catch problems </a:t>
            </a:r>
            <a:r>
              <a:rPr sz="1250" b="1" i="0">
                <a:solidFill>
                  <a:srgbClr val="C0392B"/>
                </a:solidFill>
                <a:latin typeface="Calibri"/>
              </a:rPr>
              <a:t>before</a:t>
            </a:r>
            <a:r>
              <a:rPr sz="1250" b="0" i="0">
                <a:solidFill>
                  <a:srgbClr val="1A1A2E"/>
                </a:solidFill>
                <a:latin typeface="Calibri"/>
              </a:rPr>
              <a:t> you wait in a queue.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4 — Transpilation: Virtual → Physical</a:t>
            </a:r>
          </a:p>
          <a:p>
            <a:r>
              <a:rPr sz="1400" b="0" i="1">
                <a:solidFill>
                  <a:srgbClr val="1F4E6E"/>
                </a:solidFill>
                <a:latin typeface="Calibri"/>
              </a:rPr>
              <a:t>Your circuit must be rewritten for the real device</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9</a:t>
            </a:r>
          </a:p>
        </p:txBody>
      </p:sp>
      <p:sp>
        <p:nvSpPr>
          <p:cNvPr id="6" name="TextBox 5"/>
          <p:cNvSpPr txBox="1"/>
          <p:nvPr/>
        </p:nvSpPr>
        <p:spPr>
          <a:xfrm>
            <a:off x="502920" y="2331720"/>
            <a:ext cx="6583680" cy="3383280"/>
          </a:xfrm>
          <a:prstGeom prst="rect">
            <a:avLst/>
          </a:prstGeom>
          <a:noFill/>
        </p:spPr>
        <p:txBody>
          <a:bodyPr wrap="square" anchor="t" lIns="0" rIns="0" tIns="0" bIns="0">
            <a:spAutoFit/>
          </a:bodyPr>
          <a:lstStyle/>
          <a:p>
            <a:pPr>
              <a:spcAft>
                <a:spcPts val="1200"/>
              </a:spcAft>
            </a:pPr>
            <a:r>
              <a:rPr sz="1450" b="1" i="0">
                <a:solidFill>
                  <a:srgbClr val="C8960C"/>
                </a:solidFill>
                <a:latin typeface="Calibri"/>
              </a:rPr>
              <a:t>•  </a:t>
            </a:r>
            <a:r>
              <a:rPr sz="1450" b="0" i="0">
                <a:solidFill>
                  <a:srgbClr val="1A1A2E"/>
                </a:solidFill>
                <a:latin typeface="Calibri"/>
              </a:rPr>
              <a:t>Hardware only runs </a:t>
            </a:r>
            <a:r>
              <a:rPr sz="1450" b="1" i="0">
                <a:solidFill>
                  <a:srgbClr val="11175E"/>
                </a:solidFill>
                <a:latin typeface="Calibri"/>
              </a:rPr>
              <a:t>its own native gates</a:t>
            </a:r>
            <a:r>
              <a:rPr sz="1450" b="0" i="0">
                <a:solidFill>
                  <a:srgbClr val="1A1A2E"/>
                </a:solidFill>
                <a:latin typeface="Calibri"/>
              </a:rPr>
              <a:t>, on a fixed </a:t>
            </a:r>
            <a:r>
              <a:rPr sz="1450" b="1" i="0">
                <a:solidFill>
                  <a:srgbClr val="11175E"/>
                </a:solidFill>
                <a:latin typeface="Calibri"/>
              </a:rPr>
              <a:t>qubit connectivity</a:t>
            </a:r>
            <a:r>
              <a:rPr sz="1450" b="0" i="0">
                <a:solidFill>
                  <a:srgbClr val="1A1A2E"/>
                </a:solidFill>
                <a:latin typeface="Calibri"/>
              </a:rPr>
              <a:t>.</a:t>
            </a:r>
          </a:p>
          <a:p>
            <a:pPr>
              <a:spcAft>
                <a:spcPts val="1200"/>
              </a:spcAft>
            </a:pPr>
            <a:r>
              <a:rPr sz="1450" b="1" i="0">
                <a:solidFill>
                  <a:srgbClr val="C8960C"/>
                </a:solidFill>
                <a:latin typeface="Calibri"/>
              </a:rPr>
              <a:t>•  </a:t>
            </a:r>
            <a:r>
              <a:rPr sz="1450" b="1" i="0">
                <a:solidFill>
                  <a:srgbClr val="1F4E6E"/>
                </a:solidFill>
                <a:latin typeface="Calibri"/>
              </a:rPr>
              <a:t>Transpilation</a:t>
            </a:r>
            <a:r>
              <a:rPr sz="1450" b="0" i="0">
                <a:solidFill>
                  <a:srgbClr val="1A1A2E"/>
                </a:solidFill>
                <a:latin typeface="Calibri"/>
              </a:rPr>
              <a:t> maps your abstract circuit onto real qubits and native gates.</a:t>
            </a:r>
          </a:p>
          <a:p>
            <a:pPr>
              <a:spcAft>
                <a:spcPts val="1200"/>
              </a:spcAft>
            </a:pPr>
            <a:r>
              <a:rPr sz="1450" b="1" i="0">
                <a:solidFill>
                  <a:srgbClr val="C8960C"/>
                </a:solidFill>
                <a:latin typeface="Calibri"/>
              </a:rPr>
              <a:t>•  </a:t>
            </a:r>
            <a:r>
              <a:rPr sz="1450" b="1" i="0">
                <a:solidFill>
                  <a:srgbClr val="11175E"/>
                </a:solidFill>
                <a:latin typeface="Calibri"/>
              </a:rPr>
              <a:t>optimization_level 0→3</a:t>
            </a:r>
            <a:r>
              <a:rPr sz="1450" b="0" i="0">
                <a:solidFill>
                  <a:srgbClr val="1A1A2E"/>
                </a:solidFill>
                <a:latin typeface="Calibri"/>
              </a:rPr>
              <a:t>: higher = more effort, usually shallower circuits.</a:t>
            </a:r>
          </a:p>
          <a:p>
            <a:pPr>
              <a:spcAft>
                <a:spcPts val="1200"/>
              </a:spcAft>
            </a:pPr>
            <a:r>
              <a:rPr sz="1450" b="1" i="0">
                <a:solidFill>
                  <a:srgbClr val="C8960C"/>
                </a:solidFill>
                <a:latin typeface="Calibri"/>
              </a:rPr>
              <a:t>•  </a:t>
            </a:r>
            <a:r>
              <a:rPr sz="1450" b="0" i="0">
                <a:solidFill>
                  <a:srgbClr val="1A1A2E"/>
                </a:solidFill>
                <a:latin typeface="Calibri"/>
              </a:rPr>
              <a:t>Watch the </a:t>
            </a:r>
            <a:r>
              <a:rPr sz="1450" b="1" i="0">
                <a:solidFill>
                  <a:srgbClr val="C0392B"/>
                </a:solidFill>
                <a:latin typeface="Calibri"/>
              </a:rPr>
              <a:t>depth grow</a:t>
            </a:r>
            <a:r>
              <a:rPr sz="1450" b="0" i="0">
                <a:solidFill>
                  <a:srgbClr val="1A1A2E"/>
                </a:solidFill>
                <a:latin typeface="Calibri"/>
              </a:rPr>
              <a:t> — extra SWAPs are inserted to satisfy connectivity.</a:t>
            </a:r>
          </a:p>
          <a:p>
            <a:pPr>
              <a:spcAft>
                <a:spcPts val="1200"/>
              </a:spcAft>
            </a:pPr>
            <a:r>
              <a:rPr sz="1450" b="1" i="0">
                <a:solidFill>
                  <a:srgbClr val="C8960C"/>
                </a:solidFill>
                <a:latin typeface="Calibri"/>
              </a:rPr>
              <a:t>•  </a:t>
            </a:r>
            <a:r>
              <a:rPr sz="1450" b="0" i="0">
                <a:solidFill>
                  <a:srgbClr val="1A1A2E"/>
                </a:solidFill>
                <a:latin typeface="Calibri"/>
              </a:rPr>
              <a:t>Runtime V2 </a:t>
            </a:r>
            <a:r>
              <a:rPr sz="1450" b="1" i="0">
                <a:solidFill>
                  <a:srgbClr val="C0392B"/>
                </a:solidFill>
                <a:latin typeface="Calibri"/>
              </a:rPr>
              <a:t>requires</a:t>
            </a:r>
            <a:r>
              <a:rPr sz="1450" b="0" i="0">
                <a:solidFill>
                  <a:srgbClr val="1A1A2E"/>
                </a:solidFill>
                <a:latin typeface="Calibri"/>
              </a:rPr>
              <a:t> an ISA (hardware-native) circuit — you can't submit the abstract one.</a:t>
            </a:r>
          </a:p>
        </p:txBody>
      </p:sp>
      <p:sp>
        <p:nvSpPr>
          <p:cNvPr id="7" name="Rounded Rectangle 6"/>
          <p:cNvSpPr/>
          <p:nvPr/>
        </p:nvSpPr>
        <p:spPr>
          <a:xfrm>
            <a:off x="7223760" y="2331720"/>
            <a:ext cx="4462272" cy="3200400"/>
          </a:xfrm>
          <a:prstGeom prst="roundRect">
            <a:avLst/>
          </a:prstGeom>
          <a:solidFill>
            <a:srgbClr val="0E123A"/>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4928" y="2459736"/>
            <a:ext cx="4059935" cy="274320"/>
          </a:xfrm>
          <a:prstGeom prst="rect">
            <a:avLst/>
          </a:prstGeom>
          <a:noFill/>
        </p:spPr>
        <p:txBody>
          <a:bodyPr wrap="square" anchor="t" lIns="0" rIns="0" tIns="0" bIns="0">
            <a:spAutoFit/>
          </a:bodyPr>
          <a:lstStyle/>
          <a:p>
            <a:r>
              <a:rPr sz="1100" b="1" i="0">
                <a:solidFill>
                  <a:srgbClr val="C8960C"/>
                </a:solidFill>
                <a:latin typeface="Consolas"/>
              </a:rPr>
              <a:t>transpile for the backend</a:t>
            </a:r>
          </a:p>
        </p:txBody>
      </p:sp>
      <p:sp>
        <p:nvSpPr>
          <p:cNvPr id="9" name="TextBox 8"/>
          <p:cNvSpPr txBox="1"/>
          <p:nvPr/>
        </p:nvSpPr>
        <p:spPr>
          <a:xfrm>
            <a:off x="7424928" y="2788920"/>
            <a:ext cx="4059935" cy="2633472"/>
          </a:xfrm>
          <a:prstGeom prst="rect">
            <a:avLst/>
          </a:prstGeom>
          <a:noFill/>
        </p:spPr>
        <p:txBody>
          <a:bodyPr wrap="square" anchor="t" lIns="0" rIns="0" tIns="0" bIns="0">
            <a:spAutoFit/>
          </a:bodyPr>
          <a:lstStyle/>
          <a:p>
            <a:pPr>
              <a:spcAft>
                <a:spcPts val="200"/>
              </a:spcAft>
            </a:pPr>
            <a:r>
              <a:rPr sz="1050" b="0" i="0">
                <a:solidFill>
                  <a:srgbClr val="E8EAF6"/>
                </a:solidFill>
                <a:latin typeface="Consolas"/>
              </a:rPr>
              <a:t>pm = generate_preset_pass_manager(</a:t>
            </a:r>
          </a:p>
          <a:p>
            <a:pPr>
              <a:spcAft>
                <a:spcPts val="200"/>
              </a:spcAft>
            </a:pPr>
            <a:r>
              <a:rPr sz="1050" b="0" i="0">
                <a:solidFill>
                  <a:srgbClr val="E8EAF6"/>
                </a:solidFill>
                <a:latin typeface="Consolas"/>
              </a:rPr>
              <a:t>    backend=hardware_backend,</a:t>
            </a:r>
          </a:p>
          <a:p>
            <a:pPr>
              <a:spcAft>
                <a:spcPts val="200"/>
              </a:spcAft>
            </a:pPr>
            <a:r>
              <a:rPr sz="1050" b="0" i="0">
                <a:solidFill>
                  <a:srgbClr val="E8EAF6"/>
                </a:solidFill>
                <a:latin typeface="Consolas"/>
              </a:rPr>
              <a:t>    optimization_level=1)</a:t>
            </a:r>
          </a:p>
          <a:p>
            <a:pPr>
              <a:spcAft>
                <a:spcPts val="200"/>
              </a:spcAft>
            </a:pPr>
            <a:r>
              <a:rPr sz="1050" b="0" i="0">
                <a:solidFill>
                  <a:srgbClr val="E8EAF6"/>
                </a:solidFill>
                <a:latin typeface="Consolas"/>
              </a:rPr>
              <a:t>isa_circuit = pm.run(optimal_circuit)</a:t>
            </a:r>
          </a:p>
          <a:p>
            <a:pPr>
              <a:spcAft>
                <a:spcPts val="200"/>
              </a:spcAft>
            </a:pPr>
            <a:r>
              <a:rPr sz="1050" b="0" i="0">
                <a:solidFill>
                  <a:srgbClr val="E8EAF6"/>
                </a:solidFill>
                <a:latin typeface="Consolas"/>
              </a:rPr>
              <a:t> </a:t>
            </a:r>
          </a:p>
          <a:p>
            <a:pPr>
              <a:spcAft>
                <a:spcPts val="200"/>
              </a:spcAft>
            </a:pPr>
            <a:r>
              <a:rPr sz="1050" b="0" i="0">
                <a:solidFill>
                  <a:srgbClr val="9AA0B4"/>
                </a:solidFill>
                <a:latin typeface="Consolas"/>
              </a:rPr>
              <a:t># depth: 12  →  ~40+  after mapping</a:t>
            </a:r>
          </a:p>
          <a:p>
            <a:pPr>
              <a:spcAft>
                <a:spcPts val="200"/>
              </a:spcAft>
            </a:pPr>
            <a:r>
              <a:rPr sz="1050" b="0" i="0">
                <a:solidFill>
                  <a:srgbClr val="9AA0B4"/>
                </a:solidFill>
                <a:latin typeface="Consolas"/>
              </a:rPr>
              <a:t># (SWAPs added for connectivity)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4 — Read the Device: Per-Qubit Errors</a:t>
            </a:r>
          </a:p>
          <a:p>
            <a:r>
              <a:rPr sz="1400" b="0" i="1">
                <a:solidFill>
                  <a:srgbClr val="1F4E6E"/>
                </a:solidFill>
                <a:latin typeface="Calibri"/>
              </a:rPr>
              <a:t>Not all qubits are equal — layout matters</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10</a:t>
            </a:r>
          </a:p>
        </p:txBody>
      </p:sp>
      <p:pic>
        <p:nvPicPr>
          <p:cNvPr id="6" name="Picture 5" descr="error_map.png"/>
          <p:cNvPicPr>
            <a:picLocks noChangeAspect="1"/>
          </p:cNvPicPr>
          <p:nvPr/>
        </p:nvPicPr>
        <p:blipFill>
          <a:blip r:embed="rId3"/>
          <a:stretch>
            <a:fillRect/>
          </a:stretch>
        </p:blipFill>
        <p:spPr>
          <a:xfrm>
            <a:off x="457200" y="2286000"/>
            <a:ext cx="7498079" cy="2565132"/>
          </a:xfrm>
          <a:prstGeom prst="rect">
            <a:avLst/>
          </a:prstGeom>
        </p:spPr>
      </p:pic>
      <p:sp>
        <p:nvSpPr>
          <p:cNvPr id="7" name="TextBox 6"/>
          <p:cNvSpPr txBox="1"/>
          <p:nvPr/>
        </p:nvSpPr>
        <p:spPr>
          <a:xfrm>
            <a:off x="7680960" y="2468880"/>
            <a:ext cx="4023360" cy="3108960"/>
          </a:xfrm>
          <a:prstGeom prst="rect">
            <a:avLst/>
          </a:prstGeom>
          <a:noFill/>
        </p:spPr>
        <p:txBody>
          <a:bodyPr wrap="square" anchor="t" lIns="0" rIns="0" tIns="0" bIns="0">
            <a:spAutoFit/>
          </a:bodyPr>
          <a:lstStyle/>
          <a:p>
            <a:pPr>
              <a:spcAft>
                <a:spcPts val="1100"/>
              </a:spcAft>
            </a:pPr>
            <a:r>
              <a:rPr sz="1300" b="1" i="0">
                <a:solidFill>
                  <a:srgbClr val="C8960C"/>
                </a:solidFill>
                <a:latin typeface="Calibri"/>
              </a:rPr>
              <a:t>•  </a:t>
            </a:r>
            <a:r>
              <a:rPr sz="1300" b="0" i="0">
                <a:solidFill>
                  <a:srgbClr val="1A1A2E"/>
                </a:solidFill>
                <a:latin typeface="Calibri"/>
              </a:rPr>
              <a:t>Every qubit has its own </a:t>
            </a:r>
            <a:r>
              <a:rPr sz="1300" b="1" i="0">
                <a:solidFill>
                  <a:srgbClr val="11175E"/>
                </a:solidFill>
                <a:latin typeface="Calibri"/>
              </a:rPr>
              <a:t>readout</a:t>
            </a:r>
            <a:r>
              <a:rPr sz="1300" b="0" i="0">
                <a:solidFill>
                  <a:srgbClr val="1A1A2E"/>
                </a:solidFill>
                <a:latin typeface="Calibri"/>
              </a:rPr>
              <a:t> and </a:t>
            </a:r>
            <a:r>
              <a:rPr sz="1300" b="1" i="0">
                <a:solidFill>
                  <a:srgbClr val="11175E"/>
                </a:solidFill>
                <a:latin typeface="Calibri"/>
              </a:rPr>
              <a:t>gate error</a:t>
            </a:r>
            <a:r>
              <a:rPr sz="1300" b="0" i="0">
                <a:solidFill>
                  <a:srgbClr val="1A1A2E"/>
                </a:solidFill>
                <a:latin typeface="Calibri"/>
              </a:rPr>
              <a:t>.</a:t>
            </a:r>
          </a:p>
          <a:p>
            <a:pPr>
              <a:spcAft>
                <a:spcPts val="1100"/>
              </a:spcAft>
            </a:pPr>
            <a:r>
              <a:rPr sz="1300" b="1" i="0">
                <a:solidFill>
                  <a:srgbClr val="C8960C"/>
                </a:solidFill>
                <a:latin typeface="Calibri"/>
              </a:rPr>
              <a:t>•  </a:t>
            </a:r>
            <a:r>
              <a:rPr sz="1300" b="1" i="0">
                <a:solidFill>
                  <a:srgbClr val="C0392B"/>
                </a:solidFill>
                <a:latin typeface="Calibri"/>
              </a:rPr>
              <a:t>Red bars</a:t>
            </a:r>
            <a:r>
              <a:rPr sz="1300" b="0" i="0">
                <a:solidFill>
                  <a:srgbClr val="1A1A2E"/>
                </a:solidFill>
                <a:latin typeface="Calibri"/>
              </a:rPr>
              <a:t> = the physical qubits your circuit was mapped onto.</a:t>
            </a:r>
          </a:p>
          <a:p>
            <a:pPr>
              <a:spcAft>
                <a:spcPts val="1100"/>
              </a:spcAft>
            </a:pPr>
            <a:r>
              <a:rPr sz="1300" b="1" i="0">
                <a:solidFill>
                  <a:srgbClr val="C8960C"/>
                </a:solidFill>
                <a:latin typeface="Calibri"/>
              </a:rPr>
              <a:t>•  </a:t>
            </a:r>
            <a:r>
              <a:rPr sz="1300" b="0" i="0">
                <a:solidFill>
                  <a:srgbClr val="1A1A2E"/>
                </a:solidFill>
                <a:latin typeface="Calibri"/>
              </a:rPr>
              <a:t>A good </a:t>
            </a:r>
            <a:r>
              <a:rPr sz="1300" b="1" i="0">
                <a:solidFill>
                  <a:srgbClr val="1E8449"/>
                </a:solidFill>
                <a:latin typeface="Calibri"/>
              </a:rPr>
              <a:t>layout avoids</a:t>
            </a:r>
            <a:r>
              <a:rPr sz="1300" b="0" i="0">
                <a:solidFill>
                  <a:srgbClr val="1A1A2E"/>
                </a:solidFill>
                <a:latin typeface="Calibri"/>
              </a:rPr>
              <a:t> the noisiest qubits.</a:t>
            </a:r>
          </a:p>
          <a:p>
            <a:pPr>
              <a:spcAft>
                <a:spcPts val="1100"/>
              </a:spcAft>
            </a:pPr>
            <a:r>
              <a:rPr sz="1300" b="1" i="0">
                <a:solidFill>
                  <a:srgbClr val="C8960C"/>
                </a:solidFill>
                <a:latin typeface="Calibri"/>
              </a:rPr>
              <a:t>•  </a:t>
            </a:r>
            <a:r>
              <a:rPr sz="1300" b="0" i="0">
                <a:solidFill>
                  <a:srgbClr val="1A1A2E"/>
                </a:solidFill>
                <a:latin typeface="Calibri"/>
              </a:rPr>
              <a:t>This is why the </a:t>
            </a:r>
            <a:r>
              <a:rPr sz="1300" b="1" i="0">
                <a:solidFill>
                  <a:srgbClr val="1F4E6E"/>
                </a:solidFill>
                <a:latin typeface="Calibri"/>
              </a:rPr>
              <a:t>same circuit</a:t>
            </a:r>
            <a:r>
              <a:rPr sz="1300" b="0" i="0">
                <a:solidFill>
                  <a:srgbClr val="1A1A2E"/>
                </a:solidFill>
                <a:latin typeface="Calibri"/>
              </a:rPr>
              <a:t> can give different results on different qubits.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4 — Submit &amp; Monitor a Live Job</a:t>
            </a:r>
          </a:p>
          <a:p>
            <a:r>
              <a:rPr sz="1400" b="0" i="1">
                <a:solidFill>
                  <a:srgbClr val="1F4E6E"/>
                </a:solidFill>
                <a:latin typeface="Calibri"/>
              </a:rPr>
              <a:t>The one cell that actually uses the QPU</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11</a:t>
            </a:r>
          </a:p>
        </p:txBody>
      </p:sp>
      <p:sp>
        <p:nvSpPr>
          <p:cNvPr id="6" name="Rounded Rectangle 5"/>
          <p:cNvSpPr/>
          <p:nvPr/>
        </p:nvSpPr>
        <p:spPr>
          <a:xfrm>
            <a:off x="502920" y="2286000"/>
            <a:ext cx="6126480" cy="2331720"/>
          </a:xfrm>
          <a:prstGeom prst="roundRect">
            <a:avLst/>
          </a:prstGeom>
          <a:solidFill>
            <a:srgbClr val="0E123A"/>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414016"/>
            <a:ext cx="5724144" cy="274320"/>
          </a:xfrm>
          <a:prstGeom prst="rect">
            <a:avLst/>
          </a:prstGeom>
          <a:noFill/>
        </p:spPr>
        <p:txBody>
          <a:bodyPr wrap="square" anchor="t" lIns="0" rIns="0" tIns="0" bIns="0">
            <a:spAutoFit/>
          </a:bodyPr>
          <a:lstStyle/>
          <a:p>
            <a:r>
              <a:rPr sz="1100" b="1" i="0">
                <a:solidFill>
                  <a:srgbClr val="C8960C"/>
                </a:solidFill>
                <a:latin typeface="Consolas"/>
              </a:rPr>
              <a:t>submit (opt-in)</a:t>
            </a:r>
          </a:p>
        </p:txBody>
      </p:sp>
      <p:sp>
        <p:nvSpPr>
          <p:cNvPr id="8" name="TextBox 7"/>
          <p:cNvSpPr txBox="1"/>
          <p:nvPr/>
        </p:nvSpPr>
        <p:spPr>
          <a:xfrm>
            <a:off x="704088" y="2743200"/>
            <a:ext cx="5724144" cy="1764791"/>
          </a:xfrm>
          <a:prstGeom prst="rect">
            <a:avLst/>
          </a:prstGeom>
          <a:noFill/>
        </p:spPr>
        <p:txBody>
          <a:bodyPr wrap="square" anchor="t" lIns="0" rIns="0" tIns="0" bIns="0">
            <a:spAutoFit/>
          </a:bodyPr>
          <a:lstStyle/>
          <a:p>
            <a:pPr>
              <a:spcAft>
                <a:spcPts val="200"/>
              </a:spcAft>
            </a:pPr>
            <a:r>
              <a:rPr sz="1050" b="0" i="0">
                <a:solidFill>
                  <a:srgbClr val="E8EAF6"/>
                </a:solidFill>
                <a:latin typeface="Consolas"/>
              </a:rPr>
              <a:t>sampler = SamplerV2(mode=hardware_backend)</a:t>
            </a:r>
          </a:p>
          <a:p>
            <a:pPr>
              <a:spcAft>
                <a:spcPts val="200"/>
              </a:spcAft>
            </a:pPr>
            <a:r>
              <a:rPr sz="1050" b="0" i="0">
                <a:solidFill>
                  <a:srgbClr val="E8EAF6"/>
                </a:solidFill>
                <a:latin typeface="Consolas"/>
              </a:rPr>
              <a:t>job = sampler.run([isa_circuit], shots=1024)</a:t>
            </a:r>
          </a:p>
          <a:p>
            <a:pPr>
              <a:spcAft>
                <a:spcPts val="200"/>
              </a:spcAft>
            </a:pPr>
            <a:r>
              <a:rPr sz="1050" b="0" i="0">
                <a:solidFill>
                  <a:srgbClr val="C8960C"/>
                </a:solidFill>
                <a:latin typeface="Consolas"/>
              </a:rPr>
              <a:t>job_id = job.job_id()   # save this!</a:t>
            </a:r>
          </a:p>
          <a:p>
            <a:pPr>
              <a:spcAft>
                <a:spcPts val="200"/>
              </a:spcAft>
            </a:pPr>
            <a:r>
              <a:rPr sz="1050" b="0" i="0">
                <a:solidFill>
                  <a:srgbClr val="E8EAF6"/>
                </a:solidFill>
                <a:latin typeface="Consolas"/>
              </a:rPr>
              <a:t> </a:t>
            </a:r>
          </a:p>
          <a:p>
            <a:pPr>
              <a:spcAft>
                <a:spcPts val="200"/>
              </a:spcAft>
            </a:pPr>
            <a:r>
              <a:rPr sz="1050" b="0" i="0">
                <a:solidFill>
                  <a:srgbClr val="9AA0B4"/>
                </a:solidFill>
                <a:latin typeface="Consolas"/>
              </a:rPr>
              <a:t># statuses: QUEUED → RUNNING → DONE</a:t>
            </a:r>
          </a:p>
        </p:txBody>
      </p:sp>
      <p:sp>
        <p:nvSpPr>
          <p:cNvPr id="9" name="Rounded Rectangle 8"/>
          <p:cNvSpPr/>
          <p:nvPr/>
        </p:nvSpPr>
        <p:spPr>
          <a:xfrm>
            <a:off x="502920" y="4754880"/>
            <a:ext cx="6126480" cy="1234440"/>
          </a:xfrm>
          <a:prstGeom prst="roundRect">
            <a:avLst/>
          </a:prstGeom>
          <a:solidFill>
            <a:srgbClr val="EAF4EC"/>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4901184"/>
            <a:ext cx="5724144" cy="457200"/>
          </a:xfrm>
          <a:prstGeom prst="rect">
            <a:avLst/>
          </a:prstGeom>
          <a:noFill/>
        </p:spPr>
        <p:txBody>
          <a:bodyPr wrap="square" anchor="t" lIns="0" rIns="0" tIns="0" bIns="0">
            <a:spAutoFit/>
          </a:bodyPr>
          <a:lstStyle/>
          <a:p>
            <a:r>
              <a:rPr sz="1400" b="1" i="0">
                <a:solidFill>
                  <a:srgbClr val="11175E"/>
                </a:solidFill>
                <a:latin typeface="Calibri"/>
              </a:rPr>
              <a:t>Live-demo safety</a:t>
            </a:r>
          </a:p>
        </p:txBody>
      </p:sp>
      <p:sp>
        <p:nvSpPr>
          <p:cNvPr id="11" name="TextBox 10"/>
          <p:cNvSpPr txBox="1"/>
          <p:nvPr/>
        </p:nvSpPr>
        <p:spPr>
          <a:xfrm>
            <a:off x="704088" y="5321808"/>
            <a:ext cx="5724144" cy="557784"/>
          </a:xfrm>
          <a:prstGeom prst="rect">
            <a:avLst/>
          </a:prstGeom>
          <a:noFill/>
        </p:spPr>
        <p:txBody>
          <a:bodyPr wrap="square" anchor="ctr" lIns="0" rIns="0" tIns="0" bIns="0">
            <a:spAutoFit/>
          </a:bodyPr>
          <a:lstStyle/>
          <a:p>
            <a:pPr>
              <a:spcAft>
                <a:spcPts val="400"/>
              </a:spcAft>
            </a:pPr>
            <a:r>
              <a:rPr sz="1250" b="0" i="0">
                <a:solidFill>
                  <a:srgbClr val="1A1A2E"/>
                </a:solidFill>
                <a:latin typeface="Calibri"/>
              </a:rPr>
              <a:t>Flip </a:t>
            </a:r>
            <a:r>
              <a:rPr sz="1250" b="1" i="0">
                <a:solidFill>
                  <a:srgbClr val="1E8449"/>
                </a:solidFill>
                <a:latin typeface="Calibri"/>
              </a:rPr>
              <a:t>SUBMIT_HARDWARE_JOB = True</a:t>
            </a:r>
            <a:r>
              <a:rPr sz="1250" b="0" i="0">
                <a:solidFill>
                  <a:srgbClr val="1A1A2E"/>
                </a:solidFill>
                <a:latin typeface="Calibri"/>
              </a:rPr>
              <a:t> only when ready.</a:t>
            </a:r>
          </a:p>
          <a:p>
            <a:pPr>
              <a:spcAft>
                <a:spcPts val="400"/>
              </a:spcAft>
            </a:pPr>
            <a:r>
              <a:rPr sz="1250" b="0" i="0">
                <a:solidFill>
                  <a:srgbClr val="1A1A2E"/>
                </a:solidFill>
                <a:latin typeface="Calibri"/>
              </a:rPr>
              <a:t>Keep the </a:t>
            </a:r>
            <a:r>
              <a:rPr sz="1250" b="1" i="0">
                <a:solidFill>
                  <a:srgbClr val="C8960C"/>
                </a:solidFill>
                <a:latin typeface="Calibri"/>
              </a:rPr>
              <a:t>job id</a:t>
            </a:r>
            <a:r>
              <a:rPr sz="1250" b="0" i="0">
                <a:solidFill>
                  <a:srgbClr val="1A1A2E"/>
                </a:solidFill>
                <a:latin typeface="Calibri"/>
              </a:rPr>
              <a:t> — you can reconnect anytime.</a:t>
            </a:r>
          </a:p>
        </p:txBody>
      </p:sp>
      <p:sp>
        <p:nvSpPr>
          <p:cNvPr id="12" name="Rounded Rectangle 11"/>
          <p:cNvSpPr/>
          <p:nvPr/>
        </p:nvSpPr>
        <p:spPr>
          <a:xfrm>
            <a:off x="6858000" y="2286000"/>
            <a:ext cx="4828032" cy="3703320"/>
          </a:xfrm>
          <a:prstGeom prst="roundRect">
            <a:avLst/>
          </a:prstGeom>
          <a:solidFill>
            <a:srgbClr val="FBF3DD"/>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9168" y="2432304"/>
            <a:ext cx="4425696" cy="457200"/>
          </a:xfrm>
          <a:prstGeom prst="rect">
            <a:avLst/>
          </a:prstGeom>
          <a:noFill/>
        </p:spPr>
        <p:txBody>
          <a:bodyPr wrap="square" anchor="t" lIns="0" rIns="0" tIns="0" bIns="0">
            <a:spAutoFit/>
          </a:bodyPr>
          <a:lstStyle/>
          <a:p>
            <a:r>
              <a:rPr sz="1400" b="1" i="0">
                <a:solidFill>
                  <a:srgbClr val="1F4E6E"/>
                </a:solidFill>
                <a:latin typeface="Calibri"/>
              </a:rPr>
              <a:t>Queues are unpredictable — plan for it</a:t>
            </a:r>
          </a:p>
        </p:txBody>
      </p:sp>
      <p:sp>
        <p:nvSpPr>
          <p:cNvPr id="14" name="TextBox 13"/>
          <p:cNvSpPr txBox="1"/>
          <p:nvPr/>
        </p:nvSpPr>
        <p:spPr>
          <a:xfrm>
            <a:off x="7059168" y="2852928"/>
            <a:ext cx="4425696" cy="3026663"/>
          </a:xfrm>
          <a:prstGeom prst="rect">
            <a:avLst/>
          </a:prstGeom>
          <a:noFill/>
        </p:spPr>
        <p:txBody>
          <a:bodyPr wrap="square" anchor="ctr" lIns="0" rIns="0" tIns="0" bIns="0">
            <a:spAutoFit/>
          </a:bodyPr>
          <a:lstStyle/>
          <a:p>
            <a:pPr>
              <a:spcAft>
                <a:spcPts val="400"/>
              </a:spcAft>
            </a:pPr>
            <a:r>
              <a:rPr sz="1200" b="1" i="0">
                <a:solidFill>
                  <a:srgbClr val="C0392B"/>
                </a:solidFill>
                <a:latin typeface="Calibri"/>
              </a:rPr>
              <a:t>Submit early</a:t>
            </a:r>
            <a:r>
              <a:rPr sz="1200" b="0" i="0">
                <a:solidFill>
                  <a:srgbClr val="1A1A2E"/>
                </a:solidFill>
                <a:latin typeface="Calibri"/>
              </a:rPr>
              <a:t> (even before this slide) so results are ready to show.</a:t>
            </a:r>
          </a:p>
          <a:p>
            <a:pPr>
              <a:spcAft>
                <a:spcPts val="400"/>
              </a:spcAft>
            </a:pPr>
            <a:r>
              <a:rPr sz="1200" b="0" i="0">
                <a:solidFill>
                  <a:srgbClr val="1A1A2E"/>
                </a:solidFill>
                <a:latin typeface="Calibri"/>
              </a:rPr>
              <a:t>A job id lets you </a:t>
            </a:r>
            <a:r>
              <a:rPr sz="1200" b="1" i="0">
                <a:solidFill>
                  <a:srgbClr val="1F4E6E"/>
                </a:solidFill>
                <a:latin typeface="Calibri"/>
              </a:rPr>
              <a:t>reconnect and monitor</a:t>
            </a:r>
            <a:r>
              <a:rPr sz="1200" b="0" i="0">
                <a:solidFill>
                  <a:srgbClr val="1A1A2E"/>
                </a:solidFill>
                <a:latin typeface="Calibri"/>
              </a:rPr>
              <a:t> a job submitted minutes ago.</a:t>
            </a:r>
          </a:p>
          <a:p>
            <a:pPr>
              <a:spcAft>
                <a:spcPts val="400"/>
              </a:spcAft>
            </a:pPr>
            <a:r>
              <a:rPr sz="1200" b="1" i="0">
                <a:solidFill>
                  <a:srgbClr val="C8960C"/>
                </a:solidFill>
                <a:latin typeface="Calibri"/>
              </a:rPr>
              <a:t>Fallback</a:t>
            </a:r>
            <a:r>
              <a:rPr sz="1200" b="0" i="0">
                <a:solidFill>
                  <a:srgbClr val="1A1A2E"/>
                </a:solidFill>
                <a:latin typeface="Calibri"/>
              </a:rPr>
              <a:t>: the monitor cell has a pre-run job id, so the demo never stalls.</a:t>
            </a:r>
          </a:p>
          <a:p>
            <a:pPr>
              <a:spcAft>
                <a:spcPts val="400"/>
              </a:spcAft>
            </a:pPr>
            <a:r>
              <a:rPr sz="1200" b="0" i="0">
                <a:solidFill>
                  <a:srgbClr val="1A1A2E"/>
                </a:solidFill>
                <a:latin typeface="Calibri"/>
              </a:rPr>
              <a:t>Statuses: </a:t>
            </a:r>
            <a:r>
              <a:rPr sz="1200" b="1" i="0">
                <a:solidFill>
                  <a:srgbClr val="11175E"/>
                </a:solidFill>
                <a:latin typeface="Calibri"/>
              </a:rPr>
              <a:t>QUEUED → RUNNING → DONE</a:t>
            </a:r>
            <a:r>
              <a:rPr sz="1200" b="0" i="0">
                <a:solidFill>
                  <a:srgbClr val="1A1A2E"/>
                </a:solidFill>
                <a:latin typeface="Calibri"/>
              </a:rPr>
              <a:t>; V2 has no queue-position API.</a:t>
            </a:r>
          </a:p>
          <a:p>
            <a:pPr>
              <a:spcAft>
                <a:spcPts val="400"/>
              </a:spcAft>
            </a:pPr>
            <a:r>
              <a:rPr sz="1200" b="1" i="0">
                <a:solidFill>
                  <a:srgbClr val="11175E"/>
                </a:solidFill>
                <a:latin typeface="Calibri"/>
              </a:rPr>
              <a:t>1024 shots</a:t>
            </a:r>
            <a:r>
              <a:rPr sz="1200" b="0" i="0">
                <a:solidFill>
                  <a:srgbClr val="1A1A2E"/>
                </a:solidFill>
                <a:latin typeface="Calibri"/>
              </a:rPr>
              <a:t> is plenty for this small circuit.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Step 4 — Simulator vs Hardware: What to Expect</a:t>
            </a:r>
          </a:p>
          <a:p>
            <a:r>
              <a:rPr sz="1400" b="0" i="1">
                <a:solidFill>
                  <a:srgbClr val="1F4E6E"/>
                </a:solidFill>
                <a:latin typeface="Calibri"/>
              </a:rPr>
              <a:t>Noise is part of the result — report it honestly</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12</a:t>
            </a:r>
          </a:p>
        </p:txBody>
      </p:sp>
      <p:graphicFrame>
        <p:nvGraphicFramePr>
          <p:cNvPr id="6" name="Table 5"/>
          <p:cNvGraphicFramePr>
            <a:graphicFrameLocks noGrp="1"/>
          </p:cNvGraphicFramePr>
          <p:nvPr/>
        </p:nvGraphicFramePr>
        <p:xfrm>
          <a:off x="502920" y="2423160"/>
          <a:ext cx="11183112" cy="2834640"/>
        </p:xfrm>
        <a:graphic>
          <a:graphicData uri="http://schemas.openxmlformats.org/drawingml/2006/table">
            <a:tbl>
              <a:tblPr firstRow="1" bandRow="1">
                <a:tableStyleId>{5C22544A-7EE6-4342-B048-85BDC9FD1C3A}</a:tableStyleId>
              </a:tblPr>
              <a:tblGrid>
                <a:gridCol w="2468880"/>
                <a:gridCol w="4343400"/>
                <a:gridCol w="4370832"/>
              </a:tblGrid>
              <a:tr h="566928">
                <a:tc>
                  <a:txBody>
                    <a:bodyPr wrap="square"/>
                    <a:lstStyle/>
                    <a:p>
                      <a:pPr algn="l"/>
                      <a:r>
                        <a:rPr sz="1250" b="1" i="0">
                          <a:solidFill>
                            <a:srgbClr val="FFFFFF"/>
                          </a:solidFill>
                          <a:latin typeface="Calibri"/>
                        </a:rPr>
                        <a:t/>
                      </a:r>
                    </a:p>
                  </a:txBody>
                  <a:tcPr anchor="ctr" marL="91440" marT="27432" marB="27432">
                    <a:solidFill>
                      <a:srgbClr val="11175E"/>
                    </a:solidFill>
                  </a:tcPr>
                </a:tc>
                <a:tc>
                  <a:txBody>
                    <a:bodyPr wrap="square"/>
                    <a:lstStyle/>
                    <a:p>
                      <a:pPr algn="ctr"/>
                      <a:r>
                        <a:rPr sz="1250" b="1" i="0">
                          <a:solidFill>
                            <a:srgbClr val="FFFFFF"/>
                          </a:solidFill>
                          <a:latin typeface="Calibri"/>
                        </a:rPr>
                        <a:t>Local simulator</a:t>
                      </a:r>
                    </a:p>
                  </a:txBody>
                  <a:tcPr anchor="ctr" marL="91440" marT="27432" marB="27432">
                    <a:solidFill>
                      <a:srgbClr val="11175E"/>
                    </a:solidFill>
                  </a:tcPr>
                </a:tc>
                <a:tc>
                  <a:txBody>
                    <a:bodyPr wrap="square"/>
                    <a:lstStyle/>
                    <a:p>
                      <a:pPr algn="ctr"/>
                      <a:r>
                        <a:rPr sz="1250" b="1" i="0">
                          <a:solidFill>
                            <a:srgbClr val="FFFFFF"/>
                          </a:solidFill>
                          <a:latin typeface="Calibri"/>
                        </a:rPr>
                        <a:t>Real hardware</a:t>
                      </a:r>
                    </a:p>
                  </a:txBody>
                  <a:tcPr anchor="ctr" marL="91440" marT="27432" marB="27432">
                    <a:solidFill>
                      <a:srgbClr val="11175E"/>
                    </a:solidFill>
                  </a:tcPr>
                </a:tc>
              </a:tr>
              <a:tr h="566928">
                <a:tc>
                  <a:txBody>
                    <a:bodyPr wrap="square"/>
                    <a:lstStyle/>
                    <a:p>
                      <a:pPr algn="l"/>
                      <a:r>
                        <a:rPr sz="1250" b="1" i="0">
                          <a:solidFill>
                            <a:srgbClr val="1A1A2E"/>
                          </a:solidFill>
                          <a:latin typeface="Calibri"/>
                        </a:rPr>
                        <a:t>Noise</a:t>
                      </a:r>
                    </a:p>
                  </a:txBody>
                  <a:tcPr anchor="ctr" marL="91440" marT="27432" marB="27432">
                    <a:solidFill>
                      <a:srgbClr val="FFFFFF"/>
                    </a:solidFill>
                  </a:tcPr>
                </a:tc>
                <a:tc>
                  <a:txBody>
                    <a:bodyPr wrap="square"/>
                    <a:lstStyle/>
                    <a:p>
                      <a:pPr algn="ctr"/>
                      <a:r>
                        <a:rPr sz="1250" b="0" i="0">
                          <a:solidFill>
                            <a:srgbClr val="1A1A2E"/>
                          </a:solidFill>
                          <a:latin typeface="Calibri"/>
                        </a:rPr>
                        <a:t>none (ideal)</a:t>
                      </a:r>
                    </a:p>
                  </a:txBody>
                  <a:tcPr anchor="ctr" marL="91440" marT="27432" marB="27432">
                    <a:solidFill>
                      <a:srgbClr val="FFFFFF"/>
                    </a:solidFill>
                  </a:tcPr>
                </a:tc>
                <a:tc>
                  <a:txBody>
                    <a:bodyPr wrap="square"/>
                    <a:lstStyle/>
                    <a:p>
                      <a:pPr algn="ctr"/>
                      <a:r>
                        <a:rPr sz="1250" b="0" i="0">
                          <a:solidFill>
                            <a:srgbClr val="1A1A2E"/>
                          </a:solidFill>
                          <a:latin typeface="Calibri"/>
                        </a:rPr>
                        <a:t>real — readout, gate, decoherence</a:t>
                      </a:r>
                    </a:p>
                  </a:txBody>
                  <a:tcPr anchor="ctr" marL="91440" marT="27432" marB="27432">
                    <a:solidFill>
                      <a:srgbClr val="FFFFFF"/>
                    </a:solidFill>
                  </a:tcPr>
                </a:tc>
              </a:tr>
              <a:tr h="566928">
                <a:tc>
                  <a:txBody>
                    <a:bodyPr wrap="square"/>
                    <a:lstStyle/>
                    <a:p>
                      <a:pPr algn="l"/>
                      <a:r>
                        <a:rPr sz="1250" b="1" i="0">
                          <a:solidFill>
                            <a:srgbClr val="1A1A2E"/>
                          </a:solidFill>
                          <a:latin typeface="Calibri"/>
                        </a:rPr>
                        <a:t>Feasible-shot rate</a:t>
                      </a:r>
                    </a:p>
                  </a:txBody>
                  <a:tcPr anchor="ctr" marL="91440" marT="27432" marB="27432">
                    <a:solidFill>
                      <a:srgbClr val="ECEEF6"/>
                    </a:solidFill>
                  </a:tcPr>
                </a:tc>
                <a:tc>
                  <a:txBody>
                    <a:bodyPr wrap="square"/>
                    <a:lstStyle/>
                    <a:p>
                      <a:pPr algn="ctr"/>
                      <a:r>
                        <a:rPr sz="1250" b="0" i="0">
                          <a:solidFill>
                            <a:srgbClr val="1A1A2E"/>
                          </a:solidFill>
                          <a:latin typeface="Calibri"/>
                        </a:rPr>
                        <a:t>high</a:t>
                      </a:r>
                    </a:p>
                  </a:txBody>
                  <a:tcPr anchor="ctr" marL="91440" marT="27432" marB="27432">
                    <a:solidFill>
                      <a:srgbClr val="ECEEF6"/>
                    </a:solidFill>
                  </a:tcPr>
                </a:tc>
                <a:tc>
                  <a:txBody>
                    <a:bodyPr wrap="square"/>
                    <a:lstStyle/>
                    <a:p>
                      <a:pPr algn="ctr"/>
                      <a:r>
                        <a:rPr sz="1250" b="0" i="0">
                          <a:solidFill>
                            <a:srgbClr val="1A1A2E"/>
                          </a:solidFill>
                          <a:latin typeface="Calibri"/>
                        </a:rPr>
                        <a:t>lower — more invalid bitstrings</a:t>
                      </a:r>
                    </a:p>
                  </a:txBody>
                  <a:tcPr anchor="ctr" marL="91440" marT="27432" marB="27432">
                    <a:solidFill>
                      <a:srgbClr val="ECEEF6"/>
                    </a:solidFill>
                  </a:tcPr>
                </a:tc>
              </a:tr>
              <a:tr h="566928">
                <a:tc>
                  <a:txBody>
                    <a:bodyPr wrap="square"/>
                    <a:lstStyle/>
                    <a:p>
                      <a:pPr algn="l"/>
                      <a:r>
                        <a:rPr sz="1250" b="1" i="0">
                          <a:solidFill>
                            <a:srgbClr val="1A1A2E"/>
                          </a:solidFill>
                          <a:latin typeface="Calibri"/>
                        </a:rPr>
                        <a:t>Best answer</a:t>
                      </a:r>
                    </a:p>
                  </a:txBody>
                  <a:tcPr anchor="ctr" marL="91440" marT="27432" marB="27432">
                    <a:solidFill>
                      <a:srgbClr val="FFFFFF"/>
                    </a:solidFill>
                  </a:tcPr>
                </a:tc>
                <a:tc>
                  <a:txBody>
                    <a:bodyPr wrap="square"/>
                    <a:lstStyle/>
                    <a:p>
                      <a:pPr algn="ctr"/>
                      <a:r>
                        <a:rPr sz="1250" b="0" i="0">
                          <a:solidFill>
                            <a:srgbClr val="1A1A2E"/>
                          </a:solidFill>
                          <a:latin typeface="Calibri"/>
                        </a:rPr>
                        <a:t>usually value 50</a:t>
                      </a:r>
                    </a:p>
                  </a:txBody>
                  <a:tcPr anchor="ctr" marL="91440" marT="27432" marB="27432">
                    <a:solidFill>
                      <a:srgbClr val="FFFFFF"/>
                    </a:solidFill>
                  </a:tcPr>
                </a:tc>
                <a:tc>
                  <a:txBody>
                    <a:bodyPr wrap="square"/>
                    <a:lstStyle/>
                    <a:p>
                      <a:pPr algn="ctr"/>
                      <a:r>
                        <a:rPr sz="1250" b="0" i="0">
                          <a:solidFill>
                            <a:srgbClr val="1A1A2E"/>
                          </a:solidFill>
                          <a:latin typeface="Calibri"/>
                        </a:rPr>
                        <a:t>often 50, sometimes suboptimal</a:t>
                      </a:r>
                    </a:p>
                  </a:txBody>
                  <a:tcPr anchor="ctr" marL="91440" marT="27432" marB="27432">
                    <a:solidFill>
                      <a:srgbClr val="FFFFFF"/>
                    </a:solidFill>
                  </a:tcPr>
                </a:tc>
              </a:tr>
              <a:tr h="566928">
                <a:tc>
                  <a:txBody>
                    <a:bodyPr wrap="square"/>
                    <a:lstStyle/>
                    <a:p>
                      <a:pPr algn="l"/>
                      <a:r>
                        <a:rPr sz="1250" b="1" i="0">
                          <a:solidFill>
                            <a:srgbClr val="1A1A2E"/>
                          </a:solidFill>
                          <a:latin typeface="Calibri"/>
                        </a:rPr>
                        <a:t>What we do</a:t>
                      </a:r>
                    </a:p>
                  </a:txBody>
                  <a:tcPr anchor="ctr" marL="91440" marT="27432" marB="27432">
                    <a:solidFill>
                      <a:srgbClr val="ECEEF6"/>
                    </a:solidFill>
                  </a:tcPr>
                </a:tc>
                <a:tc>
                  <a:txBody>
                    <a:bodyPr wrap="square"/>
                    <a:lstStyle/>
                    <a:p>
                      <a:pPr algn="ctr"/>
                      <a:r>
                        <a:rPr sz="1250" b="0" i="0">
                          <a:solidFill>
                            <a:srgbClr val="1A1A2E"/>
                          </a:solidFill>
                          <a:latin typeface="Calibri"/>
                        </a:rPr>
                        <a:t>pick best feasible sample</a:t>
                      </a:r>
                    </a:p>
                  </a:txBody>
                  <a:tcPr anchor="ctr" marL="91440" marT="27432" marB="27432">
                    <a:solidFill>
                      <a:srgbClr val="ECEEF6"/>
                    </a:solidFill>
                  </a:tcPr>
                </a:tc>
                <a:tc>
                  <a:txBody>
                    <a:bodyPr wrap="square"/>
                    <a:lstStyle/>
                    <a:p>
                      <a:pPr algn="ctr"/>
                      <a:r>
                        <a:rPr sz="1250" b="0" i="0">
                          <a:solidFill>
                            <a:srgbClr val="1A1A2E"/>
                          </a:solidFill>
                          <a:latin typeface="Calibri"/>
                        </a:rPr>
                        <a:t>same — and report the feasible rate</a:t>
                      </a:r>
                    </a:p>
                  </a:txBody>
                  <a:tcPr anchor="ctr" marL="91440" marT="27432" marB="27432">
                    <a:solidFill>
                      <a:srgbClr val="ECEEF6"/>
                    </a:solidFill>
                  </a:tcPr>
                </a:tc>
              </a:tr>
            </a:tbl>
          </a:graphicData>
        </a:graphic>
      </p:graphicFrame>
      <p:sp>
        <p:nvSpPr>
          <p:cNvPr id="7" name="Rounded Rectangle 6"/>
          <p:cNvSpPr/>
          <p:nvPr/>
        </p:nvSpPr>
        <p:spPr>
          <a:xfrm>
            <a:off x="502920" y="5440680"/>
            <a:ext cx="11183112" cy="658368"/>
          </a:xfrm>
          <a:prstGeom prst="roundRect">
            <a:avLst/>
          </a:prstGeom>
          <a:solidFill>
            <a:srgbClr val="111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513832"/>
            <a:ext cx="10515600" cy="512064"/>
          </a:xfrm>
          <a:prstGeom prst="rect">
            <a:avLst/>
          </a:prstGeom>
          <a:noFill/>
        </p:spPr>
        <p:txBody>
          <a:bodyPr wrap="square" anchor="ctr" lIns="0" rIns="0" tIns="0" bIns="0">
            <a:spAutoFit/>
          </a:bodyPr>
          <a:lstStyle/>
          <a:p>
            <a:r>
              <a:rPr sz="1300" b="1" i="0">
                <a:solidFill>
                  <a:srgbClr val="C8960C"/>
                </a:solidFill>
                <a:latin typeface="Calibri"/>
              </a:rPr>
              <a:t>Honest reporting:  </a:t>
            </a:r>
            <a:r>
              <a:rPr sz="1300" b="0" i="0">
                <a:solidFill>
                  <a:srgbClr val="FFFFFF"/>
                </a:solidFill>
                <a:latin typeface="Calibri"/>
              </a:rPr>
              <a:t>we keep the best FEASIBLE sample and report the feasible-shot rate — not just the single most frequent bitstring.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1363231"/>
          </a:xfrm>
          <a:prstGeom prst="rect">
            <a:avLst/>
          </a:prstGeom>
        </p:spPr>
      </p:pic>
      <p:sp>
        <p:nvSpPr>
          <p:cNvPr id="3" name="TextBox 2"/>
          <p:cNvSpPr txBox="1"/>
          <p:nvPr/>
        </p:nvSpPr>
        <p:spPr>
          <a:xfrm>
            <a:off x="502920" y="1463040"/>
            <a:ext cx="11201400" cy="914400"/>
          </a:xfrm>
          <a:prstGeom prst="rect">
            <a:avLst/>
          </a:prstGeom>
          <a:noFill/>
        </p:spPr>
        <p:txBody>
          <a:bodyPr wrap="square" anchor="t" lIns="0" rIns="0" tIns="0" bIns="0">
            <a:spAutoFit/>
          </a:bodyPr>
          <a:lstStyle/>
          <a:p>
            <a:r>
              <a:rPr sz="2700" b="1" i="0">
                <a:solidFill>
                  <a:srgbClr val="11175E"/>
                </a:solidFill>
                <a:latin typeface="Cambria"/>
              </a:rPr>
              <a:t>Wrap-Up &amp; Your Turn</a:t>
            </a:r>
          </a:p>
          <a:p>
            <a:r>
              <a:rPr sz="1400" b="0" i="1">
                <a:solidFill>
                  <a:srgbClr val="1F4E6E"/>
                </a:solidFill>
                <a:latin typeface="Calibri"/>
              </a:rPr>
              <a:t>You now have an end-to-end recipe for hardware QAOA</a:t>
            </a:r>
          </a:p>
        </p:txBody>
      </p:sp>
      <p:sp>
        <p:nvSpPr>
          <p:cNvPr id="4" name="TextBox 3"/>
          <p:cNvSpPr txBox="1"/>
          <p:nvPr/>
        </p:nvSpPr>
        <p:spPr>
          <a:xfrm>
            <a:off x="365760" y="6547104"/>
            <a:ext cx="10058400" cy="256032"/>
          </a:xfrm>
          <a:prstGeom prst="rect">
            <a:avLst/>
          </a:prstGeom>
          <a:noFill/>
        </p:spPr>
        <p:txBody>
          <a:bodyPr wrap="square" anchor="t" lIns="0" rIns="0" tIns="0" bIns="0">
            <a:spAutoFit/>
          </a:bodyPr>
          <a:lstStyle/>
          <a:p>
            <a:r>
              <a:rPr sz="750" b="0" i="0">
                <a:solidFill>
                  <a:srgbClr val="6B6B7B"/>
                </a:solidFill>
                <a:latin typeface="Calibri"/>
              </a:rPr>
              <a:t>Hands-On Tutorial · Part 01 · Knapsack QAOA on IBM Quantum · SMU Quantum Optimisation Group</a:t>
            </a:r>
          </a:p>
        </p:txBody>
      </p:sp>
      <p:sp>
        <p:nvSpPr>
          <p:cNvPr id="5" name="TextBox 4"/>
          <p:cNvSpPr txBox="1"/>
          <p:nvPr/>
        </p:nvSpPr>
        <p:spPr>
          <a:xfrm>
            <a:off x="11277295" y="6547104"/>
            <a:ext cx="548640" cy="256032"/>
          </a:xfrm>
          <a:prstGeom prst="rect">
            <a:avLst/>
          </a:prstGeom>
          <a:noFill/>
        </p:spPr>
        <p:txBody>
          <a:bodyPr wrap="square" anchor="t" lIns="0" rIns="0" tIns="0" bIns="0">
            <a:spAutoFit/>
          </a:bodyPr>
          <a:lstStyle/>
          <a:p>
            <a:pPr algn="r"/>
            <a:r>
              <a:rPr sz="900" b="1" i="0">
                <a:solidFill>
                  <a:srgbClr val="11175E"/>
                </a:solidFill>
                <a:latin typeface="Calibri"/>
              </a:rPr>
              <a:t>13</a:t>
            </a:r>
          </a:p>
        </p:txBody>
      </p:sp>
      <p:sp>
        <p:nvSpPr>
          <p:cNvPr id="6" name="Rounded Rectangle 5"/>
          <p:cNvSpPr/>
          <p:nvPr/>
        </p:nvSpPr>
        <p:spPr>
          <a:xfrm>
            <a:off x="502920" y="2331720"/>
            <a:ext cx="5532120" cy="2834640"/>
          </a:xfrm>
          <a:prstGeom prst="roundRect">
            <a:avLst/>
          </a:prstGeom>
          <a:solidFill>
            <a:srgbClr val="ECEEF6"/>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478024"/>
            <a:ext cx="5129783" cy="457200"/>
          </a:xfrm>
          <a:prstGeom prst="rect">
            <a:avLst/>
          </a:prstGeom>
          <a:noFill/>
        </p:spPr>
        <p:txBody>
          <a:bodyPr wrap="square" anchor="t" lIns="0" rIns="0" tIns="0" bIns="0">
            <a:spAutoFit/>
          </a:bodyPr>
          <a:lstStyle/>
          <a:p>
            <a:r>
              <a:rPr sz="1400" b="1" i="0">
                <a:solidFill>
                  <a:srgbClr val="11175E"/>
                </a:solidFill>
                <a:latin typeface="Calibri"/>
              </a:rPr>
              <a:t>What we did</a:t>
            </a:r>
          </a:p>
        </p:txBody>
      </p:sp>
      <p:sp>
        <p:nvSpPr>
          <p:cNvPr id="8" name="TextBox 7"/>
          <p:cNvSpPr txBox="1"/>
          <p:nvPr/>
        </p:nvSpPr>
        <p:spPr>
          <a:xfrm>
            <a:off x="704088" y="2898648"/>
            <a:ext cx="5129783" cy="2157984"/>
          </a:xfrm>
          <a:prstGeom prst="rect">
            <a:avLst/>
          </a:prstGeom>
          <a:noFill/>
        </p:spPr>
        <p:txBody>
          <a:bodyPr wrap="square" anchor="ctr" lIns="0" rIns="0" tIns="0" bIns="0">
            <a:spAutoFit/>
          </a:bodyPr>
          <a:lstStyle/>
          <a:p>
            <a:pPr>
              <a:spcAft>
                <a:spcPts val="400"/>
              </a:spcAft>
            </a:pPr>
            <a:r>
              <a:rPr sz="1250" b="0" i="0">
                <a:solidFill>
                  <a:srgbClr val="1A1A2E"/>
                </a:solidFill>
                <a:latin typeface="Calibri"/>
              </a:rPr>
              <a:t>Modelled a knapsack → QUBO → Ising.</a:t>
            </a:r>
          </a:p>
          <a:p>
            <a:pPr>
              <a:spcAft>
                <a:spcPts val="400"/>
              </a:spcAft>
            </a:pPr>
            <a:r>
              <a:rPr sz="1250" b="0" i="0">
                <a:solidFill>
                  <a:srgbClr val="1A1A2E"/>
                </a:solidFill>
                <a:latin typeface="Calibri"/>
              </a:rPr>
              <a:t>Built QAOA and tuned it on a </a:t>
            </a:r>
            <a:r>
              <a:rPr sz="1250" b="1" i="0">
                <a:solidFill>
                  <a:srgbClr val="11175E"/>
                </a:solidFill>
                <a:latin typeface="Calibri"/>
              </a:rPr>
              <a:t>simulator</a:t>
            </a:r>
            <a:r>
              <a:rPr sz="1250" b="0" i="0">
                <a:solidFill>
                  <a:srgbClr val="1A1A2E"/>
                </a:solidFill>
                <a:latin typeface="Calibri"/>
              </a:rPr>
              <a:t>.</a:t>
            </a:r>
          </a:p>
          <a:p>
            <a:pPr>
              <a:spcAft>
                <a:spcPts val="400"/>
              </a:spcAft>
            </a:pPr>
            <a:r>
              <a:rPr sz="1250" b="0" i="0">
                <a:solidFill>
                  <a:srgbClr val="1A1A2E"/>
                </a:solidFill>
                <a:latin typeface="Calibri"/>
              </a:rPr>
              <a:t>Connected to </a:t>
            </a:r>
            <a:r>
              <a:rPr sz="1250" b="1" i="0">
                <a:solidFill>
                  <a:srgbClr val="1F4E6E"/>
                </a:solidFill>
                <a:latin typeface="Calibri"/>
              </a:rPr>
              <a:t>IBM Quantum</a:t>
            </a:r>
            <a:r>
              <a:rPr sz="1250" b="0" i="0">
                <a:solidFill>
                  <a:srgbClr val="1A1A2E"/>
                </a:solidFill>
                <a:latin typeface="Calibri"/>
              </a:rPr>
              <a:t>, checked capacity, chose a backend.</a:t>
            </a:r>
          </a:p>
          <a:p>
            <a:pPr>
              <a:spcAft>
                <a:spcPts val="400"/>
              </a:spcAft>
            </a:pPr>
            <a:r>
              <a:rPr sz="1250" b="0" i="0">
                <a:solidFill>
                  <a:srgbClr val="1A1A2E"/>
                </a:solidFill>
                <a:latin typeface="Calibri"/>
              </a:rPr>
              <a:t>Transpiled, inspected </a:t>
            </a:r>
            <a:r>
              <a:rPr sz="1250" b="1" i="0">
                <a:solidFill>
                  <a:srgbClr val="11175E"/>
                </a:solidFill>
                <a:latin typeface="Calibri"/>
              </a:rPr>
              <a:t>qubit errors</a:t>
            </a:r>
            <a:r>
              <a:rPr sz="1250" b="0" i="0">
                <a:solidFill>
                  <a:srgbClr val="1A1A2E"/>
                </a:solidFill>
                <a:latin typeface="Calibri"/>
              </a:rPr>
              <a:t>, and ran a </a:t>
            </a:r>
            <a:r>
              <a:rPr sz="1250" b="1" i="0">
                <a:solidFill>
                  <a:srgbClr val="1E8449"/>
                </a:solidFill>
                <a:latin typeface="Calibri"/>
              </a:rPr>
              <a:t>live job</a:t>
            </a:r>
            <a:r>
              <a:rPr sz="1250" b="0" i="0">
                <a:solidFill>
                  <a:srgbClr val="1A1A2E"/>
                </a:solidFill>
                <a:latin typeface="Calibri"/>
              </a:rPr>
              <a:t>.</a:t>
            </a:r>
          </a:p>
          <a:p>
            <a:pPr>
              <a:spcAft>
                <a:spcPts val="400"/>
              </a:spcAft>
            </a:pPr>
            <a:r>
              <a:rPr sz="1250" b="0" i="0">
                <a:solidFill>
                  <a:srgbClr val="1A1A2E"/>
                </a:solidFill>
                <a:latin typeface="Calibri"/>
              </a:rPr>
              <a:t>Compared simulator vs hardware </a:t>
            </a:r>
            <a:r>
              <a:rPr sz="1250" b="1" i="0">
                <a:solidFill>
                  <a:srgbClr val="C8960C"/>
                </a:solidFill>
                <a:latin typeface="Calibri"/>
              </a:rPr>
              <a:t>honestly</a:t>
            </a:r>
            <a:r>
              <a:rPr sz="1250" b="0" i="0">
                <a:solidFill>
                  <a:srgbClr val="1A1A2E"/>
                </a:solidFill>
                <a:latin typeface="Calibri"/>
              </a:rPr>
              <a:t>.</a:t>
            </a:r>
          </a:p>
        </p:txBody>
      </p:sp>
      <p:sp>
        <p:nvSpPr>
          <p:cNvPr id="9" name="Rounded Rectangle 8"/>
          <p:cNvSpPr/>
          <p:nvPr/>
        </p:nvSpPr>
        <p:spPr>
          <a:xfrm>
            <a:off x="6199632" y="2331720"/>
            <a:ext cx="5486400" cy="2834640"/>
          </a:xfrm>
          <a:prstGeom prst="roundRect">
            <a:avLst/>
          </a:prstGeom>
          <a:solidFill>
            <a:srgbClr val="FBF3DD"/>
          </a:solidFill>
          <a:ln>
            <a:noFill/>
          </a:ln>
          <a:effectLst/>
          <a:effectLst>
            <a:outerShdw blurRad="40000" dist="20000" dir="5400000" rotWithShape="0">
              <a:srgbClr val="8A8A9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478024"/>
            <a:ext cx="5084064" cy="457200"/>
          </a:xfrm>
          <a:prstGeom prst="rect">
            <a:avLst/>
          </a:prstGeom>
          <a:noFill/>
        </p:spPr>
        <p:txBody>
          <a:bodyPr wrap="square" anchor="t" lIns="0" rIns="0" tIns="0" bIns="0">
            <a:spAutoFit/>
          </a:bodyPr>
          <a:lstStyle/>
          <a:p>
            <a:r>
              <a:rPr sz="1400" b="1" i="0">
                <a:solidFill>
                  <a:srgbClr val="1F4E6E"/>
                </a:solidFill>
                <a:latin typeface="Calibri"/>
              </a:rPr>
              <a:t>Try next</a:t>
            </a:r>
          </a:p>
        </p:txBody>
      </p:sp>
      <p:sp>
        <p:nvSpPr>
          <p:cNvPr id="11" name="TextBox 10"/>
          <p:cNvSpPr txBox="1"/>
          <p:nvPr/>
        </p:nvSpPr>
        <p:spPr>
          <a:xfrm>
            <a:off x="6400800" y="2898648"/>
            <a:ext cx="5084064" cy="2157984"/>
          </a:xfrm>
          <a:prstGeom prst="rect">
            <a:avLst/>
          </a:prstGeom>
          <a:noFill/>
        </p:spPr>
        <p:txBody>
          <a:bodyPr wrap="square" anchor="ctr" lIns="0" rIns="0" tIns="0" bIns="0">
            <a:spAutoFit/>
          </a:bodyPr>
          <a:lstStyle/>
          <a:p>
            <a:pPr>
              <a:spcAft>
                <a:spcPts val="400"/>
              </a:spcAft>
            </a:pPr>
            <a:r>
              <a:rPr sz="1250" b="0" i="0">
                <a:solidFill>
                  <a:srgbClr val="1A1A2E"/>
                </a:solidFill>
                <a:latin typeface="Calibri"/>
              </a:rPr>
              <a:t>Change </a:t>
            </a:r>
            <a:r>
              <a:rPr sz="1250" b="1" i="0">
                <a:solidFill>
                  <a:srgbClr val="11175E"/>
                </a:solidFill>
                <a:latin typeface="Calibri"/>
              </a:rPr>
              <a:t>reps</a:t>
            </a:r>
            <a:r>
              <a:rPr sz="1250" b="0" i="0">
                <a:solidFill>
                  <a:srgbClr val="1A1A2E"/>
                </a:solidFill>
                <a:latin typeface="Calibri"/>
              </a:rPr>
              <a:t> or the optimization level — watch depth &amp; results.</a:t>
            </a:r>
          </a:p>
          <a:p>
            <a:pPr>
              <a:spcAft>
                <a:spcPts val="400"/>
              </a:spcAft>
            </a:pPr>
            <a:r>
              <a:rPr sz="1250" b="0" i="0">
                <a:solidFill>
                  <a:srgbClr val="1A1A2E"/>
                </a:solidFill>
                <a:latin typeface="Calibri"/>
              </a:rPr>
              <a:t>Try a </a:t>
            </a:r>
            <a:r>
              <a:rPr sz="1250" b="1" i="0">
                <a:solidFill>
                  <a:srgbClr val="1F4E6E"/>
                </a:solidFill>
                <a:latin typeface="Calibri"/>
              </a:rPr>
              <a:t>different backend</a:t>
            </a:r>
            <a:r>
              <a:rPr sz="1250" b="0" i="0">
                <a:solidFill>
                  <a:srgbClr val="1A1A2E"/>
                </a:solidFill>
                <a:latin typeface="Calibri"/>
              </a:rPr>
              <a:t> and compare error maps.</a:t>
            </a:r>
          </a:p>
          <a:p>
            <a:pPr>
              <a:spcAft>
                <a:spcPts val="400"/>
              </a:spcAft>
            </a:pPr>
            <a:r>
              <a:rPr sz="1250" b="0" i="0">
                <a:solidFill>
                  <a:srgbClr val="1A1A2E"/>
                </a:solidFill>
                <a:latin typeface="Calibri"/>
              </a:rPr>
              <a:t>Run </a:t>
            </a:r>
            <a:r>
              <a:rPr sz="1250" b="1" i="0">
                <a:solidFill>
                  <a:srgbClr val="11175E"/>
                </a:solidFill>
                <a:latin typeface="Calibri"/>
              </a:rPr>
              <a:t>knapsack_vqe / tsp</a:t>
            </a:r>
            <a:r>
              <a:rPr sz="1250" b="0" i="0">
                <a:solidFill>
                  <a:srgbClr val="1A1A2E"/>
                </a:solidFill>
                <a:latin typeface="Calibri"/>
              </a:rPr>
              <a:t> — same pipeline, new circuit.</a:t>
            </a:r>
          </a:p>
          <a:p>
            <a:pPr>
              <a:spcAft>
                <a:spcPts val="400"/>
              </a:spcAft>
            </a:pPr>
            <a:r>
              <a:rPr sz="1250" b="0" i="0">
                <a:solidFill>
                  <a:srgbClr val="1A1A2E"/>
                </a:solidFill>
                <a:latin typeface="Calibri"/>
              </a:rPr>
              <a:t>Part 02: </a:t>
            </a:r>
            <a:r>
              <a:rPr sz="1250" b="1" i="0">
                <a:solidFill>
                  <a:srgbClr val="C8960C"/>
                </a:solidFill>
                <a:latin typeface="Calibri"/>
              </a:rPr>
              <a:t>custom penalties</a:t>
            </a:r>
            <a:r>
              <a:rPr sz="1250" b="0" i="0">
                <a:solidFill>
                  <a:srgbClr val="1A1A2E"/>
                </a:solidFill>
                <a:latin typeface="Calibri"/>
              </a:rPr>
              <a:t> to shrink the qubit count.</a:t>
            </a:r>
          </a:p>
        </p:txBody>
      </p:sp>
      <p:sp>
        <p:nvSpPr>
          <p:cNvPr id="12" name="Rounded Rectangle 11"/>
          <p:cNvSpPr/>
          <p:nvPr/>
        </p:nvSpPr>
        <p:spPr>
          <a:xfrm>
            <a:off x="502920" y="5394960"/>
            <a:ext cx="11183112" cy="658368"/>
          </a:xfrm>
          <a:prstGeom prst="roundRect">
            <a:avLst/>
          </a:prstGeom>
          <a:solidFill>
            <a:srgbClr val="1F4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468112"/>
            <a:ext cx="10515600" cy="512064"/>
          </a:xfrm>
          <a:prstGeom prst="rect">
            <a:avLst/>
          </a:prstGeom>
          <a:noFill/>
        </p:spPr>
        <p:txBody>
          <a:bodyPr wrap="square" anchor="ctr" lIns="0" rIns="0" tIns="0" bIns="0">
            <a:spAutoFit/>
          </a:bodyPr>
          <a:lstStyle/>
          <a:p>
            <a:r>
              <a:rPr sz="1300" b="1" i="0">
                <a:solidFill>
                  <a:srgbClr val="C8960C"/>
                </a:solidFill>
                <a:latin typeface="Calibri"/>
              </a:rPr>
              <a:t>Questions?  </a:t>
            </a:r>
            <a:r>
              <a:rPr sz="1300" b="0" i="0">
                <a:solidFill>
                  <a:srgbClr val="FFFFFF"/>
                </a:solidFill>
                <a:latin typeface="Calibri"/>
              </a:rPr>
              <a:t>monitsharma@smu.edu.sg  ·  repo: part01/  ·  keep your job id to revisit results later.</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